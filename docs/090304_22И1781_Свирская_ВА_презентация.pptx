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7660" r:id="rId3"/>
    <p:sldId id="268" r:id="rId4"/>
    <p:sldId id="7668" r:id="rId5"/>
    <p:sldId id="7691" r:id="rId6"/>
    <p:sldId id="7683" r:id="rId7"/>
    <p:sldId id="7693" r:id="rId8"/>
    <p:sldId id="7673" r:id="rId9"/>
    <p:sldId id="7694" r:id="rId10"/>
    <p:sldId id="7695" r:id="rId11"/>
    <p:sldId id="7696" r:id="rId12"/>
    <p:sldId id="7698" r:id="rId13"/>
    <p:sldId id="7669" r:id="rId14"/>
  </p:sldIdLst>
  <p:sldSz cx="12192000" cy="6858000"/>
  <p:notesSz cx="6858000" cy="9144000"/>
  <p:custDataLst>
    <p:tags r:id="rId20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30" userDrawn="1">
          <p15:clr>
            <a:srgbClr val="A4A3A4"/>
          </p15:clr>
        </p15:guide>
        <p15:guide id="22" pos="2450" userDrawn="1">
          <p15:clr>
            <a:srgbClr val="A4A3A4"/>
          </p15:clr>
        </p15:guide>
        <p15:guide id="3" orient="horz" pos="496" userDrawn="1">
          <p15:clr>
            <a:srgbClr val="A4A3A4"/>
          </p15:clr>
        </p15:guide>
        <p15:guide id="11" orient="horz" pos="1138" userDrawn="1">
          <p15:clr>
            <a:srgbClr val="A4A3A4"/>
          </p15:clr>
        </p15:guide>
        <p15:guide id="5" orient="horz" pos="1374" userDrawn="1">
          <p15:clr>
            <a:srgbClr val="A4A3A4"/>
          </p15:clr>
        </p15:guide>
        <p15:guide id="6" pos="5526" userDrawn="1">
          <p15:clr>
            <a:srgbClr val="A4A3A4"/>
          </p15:clr>
        </p15:guide>
        <p15:guide id="7" orient="horz" pos="2388" userDrawn="1">
          <p15:clr>
            <a:srgbClr val="A4A3A4"/>
          </p15:clr>
        </p15:guide>
        <p15:guide id="8" orient="horz" pos="2612" userDrawn="1">
          <p15:clr>
            <a:srgbClr val="A4A3A4"/>
          </p15:clr>
        </p15:guide>
        <p15:guide id="9" orient="horz" pos="2516" userDrawn="1">
          <p15:clr>
            <a:srgbClr val="A4A3A4"/>
          </p15:clr>
        </p15:guide>
        <p15:guide id="10" pos="6724" userDrawn="1">
          <p15:clr>
            <a:srgbClr val="A4A3A4"/>
          </p15:clr>
        </p15:guide>
        <p15:guide id="12" orient="horz" pos="436" userDrawn="1">
          <p15:clr>
            <a:srgbClr val="A4A3A4"/>
          </p15:clr>
        </p15:guide>
        <p15:guide id="14" pos="5450" userDrawn="1">
          <p15:clr>
            <a:srgbClr val="A4A3A4"/>
          </p15:clr>
        </p15:guide>
        <p15:guide id="15" orient="horz" pos="1230" userDrawn="1">
          <p15:clr>
            <a:srgbClr val="A4A3A4"/>
          </p15:clr>
        </p15:guide>
        <p15:guide id="16" pos="6181" userDrawn="1">
          <p15:clr>
            <a:srgbClr val="A4A3A4"/>
          </p15:clr>
        </p15:guide>
        <p15:guide id="17" pos="1497" userDrawn="1">
          <p15:clr>
            <a:srgbClr val="A4A3A4"/>
          </p15:clr>
        </p15:guide>
        <p15:guide id="18" pos="3072" userDrawn="1">
          <p15:clr>
            <a:srgbClr val="A4A3A4"/>
          </p15:clr>
        </p15:guide>
        <p15:guide id="19" pos="5384" userDrawn="1">
          <p15:clr>
            <a:srgbClr val="A4A3A4"/>
          </p15:clr>
        </p15:guide>
        <p15:guide id="21" pos="956" userDrawn="1">
          <p15:clr>
            <a:srgbClr val="A4A3A4"/>
          </p15:clr>
        </p15:guide>
        <p15:guide id="23" orient="horz" pos="2051" userDrawn="1">
          <p15:clr>
            <a:srgbClr val="A4A3A4"/>
          </p15:clr>
        </p15:guide>
        <p15:guide id="24" pos="1249" userDrawn="1">
          <p15:clr>
            <a:srgbClr val="A4A3A4"/>
          </p15:clr>
        </p15:guide>
        <p15:guide id="25" pos="4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6397"/>
    <a:srgbClr val="706F6F"/>
    <a:srgbClr val="B24C33"/>
    <a:srgbClr val="E9B622"/>
    <a:srgbClr val="712073"/>
    <a:srgbClr val="006D81"/>
    <a:srgbClr val="EA7125"/>
    <a:srgbClr val="3D378D"/>
    <a:srgbClr val="007E40"/>
    <a:srgbClr val="ED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16" autoAdjust="0"/>
  </p:normalViewPr>
  <p:slideViewPr>
    <p:cSldViewPr snapToGrid="0" showGuides="1">
      <p:cViewPr varScale="1">
        <p:scale>
          <a:sx n="98" d="100"/>
          <a:sy n="98" d="100"/>
        </p:scale>
        <p:origin x="896" y="192"/>
      </p:cViewPr>
      <p:guideLst>
        <p:guide orient="horz" pos="3130"/>
        <p:guide pos="2450"/>
        <p:guide orient="horz" pos="496"/>
        <p:guide orient="horz" pos="1138"/>
        <p:guide orient="horz" pos="1374"/>
        <p:guide pos="5526"/>
        <p:guide orient="horz" pos="2388"/>
        <p:guide orient="horz" pos="2612"/>
        <p:guide orient="horz" pos="2516"/>
        <p:guide pos="6724"/>
        <p:guide orient="horz" pos="436"/>
        <p:guide pos="5450"/>
        <p:guide orient="horz" pos="1230"/>
        <p:guide pos="6181"/>
        <p:guide pos="1497"/>
        <p:guide pos="3072"/>
        <p:guide pos="5384"/>
        <p:guide pos="956"/>
        <p:guide orient="horz" pos="2051"/>
        <p:guide pos="1249"/>
        <p:guide pos="41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62" y="90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4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ABCC-CF3C-4532-9ACD-4FD4F6964F21}" type="datetimeFigureOut">
              <a:rPr lang="ru-RU" smtClean="0">
                <a:latin typeface="Arial" panose="020B0604020202020204" pitchFamily="34" charset="0"/>
              </a:rPr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385E-F5AC-4220-88E8-D359F0C98E96}" type="slidenum">
              <a:rPr lang="ru-RU" smtClean="0">
                <a:latin typeface="Arial" panose="020B0604020202020204" pitchFamily="34" charset="0"/>
              </a:rPr>
            </a:fld>
            <a:endParaRPr lang="ru-RU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FBE26D7A-F5EB-4C23-8032-E31C77D84C5A}" type="datetimeFigureOut">
              <a:rPr lang="ru-RU" smtClean="0"/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23B3B5DC-1A24-4803-AA36-26180B22D0F9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tags" Target="../tags/tag4.x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3.bin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tags" Target="../tags/tag6.x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4.bin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tags" Target="../tags/tag8.x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5.bin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tags" Target="../tags/tag10.x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6.bin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7.bin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tags" Target="../tags/tag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tags" Target="../tags/tag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tags" Target="../tags/tag15.x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9.bin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tags" Target="../tags/tag1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0.bin"/><Relationship Id="rId4" Type="http://schemas.openxmlformats.org/officeDocument/2006/relationships/tags" Target="../tags/tag1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tags" Target="../tags/tag1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tags" Target="../tags/tag1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tags" Target="../tags/tag2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2.bin"/><Relationship Id="rId4" Type="http://schemas.openxmlformats.org/officeDocument/2006/relationships/tags" Target="../tags/tag20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tags" Target="../tags/tag2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3.bin"/><Relationship Id="rId4" Type="http://schemas.openxmlformats.org/officeDocument/2006/relationships/tags" Target="../tags/tag2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tags" Target="../tags/tag2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tags" Target="../tags/tag24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tags" Target="../tags/tag27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5.bin"/><Relationship Id="rId4" Type="http://schemas.openxmlformats.org/officeDocument/2006/relationships/tags" Target="../tags/tag26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tags" Target="../tags/tag2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6.bin"/><Relationship Id="rId4" Type="http://schemas.openxmlformats.org/officeDocument/2006/relationships/tags" Target="../tags/tag28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tags" Target="../tags/tag3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7.bin"/><Relationship Id="rId4" Type="http://schemas.openxmlformats.org/officeDocument/2006/relationships/tags" Target="../tags/tag30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tags" Target="../tags/tag33.xml"/><Relationship Id="rId4" Type="http://schemas.openxmlformats.org/officeDocument/2006/relationships/image" Target="../media/image1.emf"/><Relationship Id="rId3" Type="http://schemas.openxmlformats.org/officeDocument/2006/relationships/oleObject" Target="../embeddings/oleObject18.bin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" name="Прямая соединительная линия 1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5" name="Группа 4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7" name="Полилиния: фигура 4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0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5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Полилиния: фигура 16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а подразделений и основного бре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Корпоративные цвета РТУ МИРЭА</a:t>
            </a:r>
            <a:endParaRPr lang="ru-RU" dirty="0"/>
          </a:p>
        </p:txBody>
      </p:sp>
      <p:sp>
        <p:nvSpPr>
          <p:cNvPr id="6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" name="Прямая соединительная линия 1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5" name="Группа 4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7" name="Полилиния: фигура 4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0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5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" name="Полилиния: фигура 16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9" name="Прямоугольник: скругленные углы 27"/>
          <p:cNvSpPr/>
          <p:nvPr userDrawn="1"/>
        </p:nvSpPr>
        <p:spPr>
          <a:xfrm rot="10800000">
            <a:off x="10185451" y="1903621"/>
            <a:ext cx="1656000" cy="360000"/>
          </a:xfrm>
          <a:prstGeom prst="roundRect">
            <a:avLst/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8"/>
          <p:cNvSpPr/>
          <p:nvPr userDrawn="1"/>
        </p:nvSpPr>
        <p:spPr>
          <a:xfrm>
            <a:off x="10201038" y="2471500"/>
            <a:ext cx="1656000" cy="360000"/>
          </a:xfrm>
          <a:prstGeom prst="roundRect">
            <a:avLst/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29"/>
          <p:cNvSpPr/>
          <p:nvPr userDrawn="1"/>
        </p:nvSpPr>
        <p:spPr>
          <a:xfrm rot="10800000">
            <a:off x="7973503" y="3480819"/>
            <a:ext cx="1656000" cy="360000"/>
          </a:xfrm>
          <a:prstGeom prst="roundRect">
            <a:avLst/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2" name="Прямоугольник: скругленные углы 30"/>
          <p:cNvSpPr/>
          <p:nvPr userDrawn="1"/>
        </p:nvSpPr>
        <p:spPr>
          <a:xfrm>
            <a:off x="7992734" y="4083057"/>
            <a:ext cx="1656000" cy="360000"/>
          </a:xfrm>
          <a:prstGeom prst="roundRect">
            <a:avLst/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3" name="Прямоугольник: скругленные углы 31"/>
          <p:cNvSpPr/>
          <p:nvPr userDrawn="1"/>
        </p:nvSpPr>
        <p:spPr>
          <a:xfrm rot="10800000">
            <a:off x="5761555" y="1903621"/>
            <a:ext cx="1656000" cy="360000"/>
          </a:xfrm>
          <a:prstGeom prst="roundRect">
            <a:avLst/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4" name="Прямоугольник: скругленные углы 32"/>
          <p:cNvSpPr/>
          <p:nvPr userDrawn="1"/>
        </p:nvSpPr>
        <p:spPr>
          <a:xfrm>
            <a:off x="5761555" y="2452513"/>
            <a:ext cx="1656000" cy="360000"/>
          </a:xfrm>
          <a:prstGeom prst="roundRect">
            <a:avLst/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5" name="Прямоугольник: скругленные углы 33"/>
          <p:cNvSpPr/>
          <p:nvPr userDrawn="1"/>
        </p:nvSpPr>
        <p:spPr>
          <a:xfrm rot="10800000">
            <a:off x="7973503" y="1903621"/>
            <a:ext cx="1656000" cy="360000"/>
          </a:xfrm>
          <a:prstGeom prst="roundRect">
            <a:avLst/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6" name="Прямоугольник: скругленные углы 34"/>
          <p:cNvSpPr/>
          <p:nvPr userDrawn="1"/>
        </p:nvSpPr>
        <p:spPr>
          <a:xfrm>
            <a:off x="7973503" y="2480463"/>
            <a:ext cx="1656000" cy="360000"/>
          </a:xfrm>
          <a:prstGeom prst="roundRect">
            <a:avLst/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5"/>
          <p:cNvSpPr/>
          <p:nvPr userDrawn="1"/>
        </p:nvSpPr>
        <p:spPr>
          <a:xfrm rot="10800000">
            <a:off x="3549609" y="3480819"/>
            <a:ext cx="1656000" cy="360000"/>
          </a:xfrm>
          <a:prstGeom prst="roundRect">
            <a:avLst/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8" name="Прямоугольник: скругленные углы 36"/>
          <p:cNvSpPr/>
          <p:nvPr userDrawn="1"/>
        </p:nvSpPr>
        <p:spPr>
          <a:xfrm>
            <a:off x="3549608" y="4083057"/>
            <a:ext cx="1656000" cy="360000"/>
          </a:xfrm>
          <a:prstGeom prst="roundRect">
            <a:avLst/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9" name="Прямоугольник: скругленные углы 37"/>
          <p:cNvSpPr/>
          <p:nvPr userDrawn="1"/>
        </p:nvSpPr>
        <p:spPr>
          <a:xfrm rot="10800000">
            <a:off x="5761555" y="3480819"/>
            <a:ext cx="1656000" cy="360000"/>
          </a:xfrm>
          <a:prstGeom prst="roundRect">
            <a:avLst/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8"/>
          <p:cNvSpPr/>
          <p:nvPr userDrawn="1"/>
        </p:nvSpPr>
        <p:spPr>
          <a:xfrm>
            <a:off x="5784430" y="4083057"/>
            <a:ext cx="1656000" cy="360000"/>
          </a:xfrm>
          <a:prstGeom prst="roundRect">
            <a:avLst/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1" name="Прямоугольник: скругленные углы 39"/>
          <p:cNvSpPr/>
          <p:nvPr userDrawn="1"/>
        </p:nvSpPr>
        <p:spPr>
          <a:xfrm rot="10800000">
            <a:off x="6914701" y="5381153"/>
            <a:ext cx="1656000" cy="360000"/>
          </a:xfrm>
          <a:prstGeom prst="roundRect">
            <a:avLst/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2" name="Прямоугольник: скругленные углы 40"/>
          <p:cNvSpPr/>
          <p:nvPr userDrawn="1"/>
        </p:nvSpPr>
        <p:spPr>
          <a:xfrm>
            <a:off x="6906718" y="5957884"/>
            <a:ext cx="1656000" cy="360000"/>
          </a:xfrm>
          <a:prstGeom prst="roundRect">
            <a:avLst/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3" name="Прямоугольник: скругленные углы 41"/>
          <p:cNvSpPr/>
          <p:nvPr userDrawn="1"/>
        </p:nvSpPr>
        <p:spPr>
          <a:xfrm rot="10800000">
            <a:off x="10185450" y="3480820"/>
            <a:ext cx="1656000" cy="360000"/>
          </a:xfrm>
          <a:prstGeom prst="roundRect">
            <a:avLst/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4" name="Прямоугольник: скругленные углы 42"/>
          <p:cNvSpPr/>
          <p:nvPr userDrawn="1"/>
        </p:nvSpPr>
        <p:spPr>
          <a:xfrm>
            <a:off x="10201038" y="4083057"/>
            <a:ext cx="1656000" cy="360000"/>
          </a:xfrm>
          <a:prstGeom prst="roundRect">
            <a:avLst/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5" name="Прямоугольник: скругленные углы 43"/>
          <p:cNvSpPr/>
          <p:nvPr userDrawn="1"/>
        </p:nvSpPr>
        <p:spPr>
          <a:xfrm rot="10800000">
            <a:off x="3549609" y="5403126"/>
            <a:ext cx="1656000" cy="360000"/>
          </a:xfrm>
          <a:prstGeom prst="roundRect">
            <a:avLst/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6" name="Прямоугольник: скругленные углы 44"/>
          <p:cNvSpPr/>
          <p:nvPr userDrawn="1"/>
        </p:nvSpPr>
        <p:spPr>
          <a:xfrm>
            <a:off x="3549608" y="5970069"/>
            <a:ext cx="1656000" cy="360000"/>
          </a:xfrm>
          <a:prstGeom prst="roundRect">
            <a:avLst/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7" name="Прямоугольник: скругленные углы 45"/>
          <p:cNvSpPr/>
          <p:nvPr userDrawn="1"/>
        </p:nvSpPr>
        <p:spPr>
          <a:xfrm rot="10800000">
            <a:off x="3549608" y="1903621"/>
            <a:ext cx="1656000" cy="360000"/>
          </a:xfrm>
          <a:prstGeom prst="roundRect">
            <a:avLst/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8" name="Прямоугольник: скругленные углы 46"/>
          <p:cNvSpPr/>
          <p:nvPr userDrawn="1"/>
        </p:nvSpPr>
        <p:spPr>
          <a:xfrm>
            <a:off x="3549608" y="2458720"/>
            <a:ext cx="1656000" cy="360000"/>
          </a:xfrm>
          <a:prstGeom prst="roundRect">
            <a:avLst/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7"/>
          <p:cNvSpPr/>
          <p:nvPr userDrawn="1"/>
        </p:nvSpPr>
        <p:spPr>
          <a:xfrm rot="10800000">
            <a:off x="342961" y="2618791"/>
            <a:ext cx="1656000" cy="360000"/>
          </a:xfrm>
          <a:prstGeom prst="roundRect">
            <a:avLst/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0" name="Прямоугольник: скругленные углы 48"/>
          <p:cNvSpPr/>
          <p:nvPr userDrawn="1"/>
        </p:nvSpPr>
        <p:spPr>
          <a:xfrm rot="10800000">
            <a:off x="342960" y="3272660"/>
            <a:ext cx="1656000" cy="360000"/>
          </a:xfrm>
          <a:prstGeom prst="roundRect">
            <a:avLst/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1" name="Прямоугольник: скругленные углы 49"/>
          <p:cNvSpPr/>
          <p:nvPr userDrawn="1"/>
        </p:nvSpPr>
        <p:spPr>
          <a:xfrm rot="10800000">
            <a:off x="342961" y="1903621"/>
            <a:ext cx="1656000" cy="360000"/>
          </a:xfrm>
          <a:prstGeom prst="roundRect">
            <a:avLst/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2" name="Прямоугольник: скругленные углы 50"/>
          <p:cNvSpPr/>
          <p:nvPr userDrawn="1"/>
        </p:nvSpPr>
        <p:spPr>
          <a:xfrm>
            <a:off x="342960" y="3836551"/>
            <a:ext cx="1656000" cy="360000"/>
          </a:xfrm>
          <a:prstGeom prst="roundRect">
            <a:avLst/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3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Основной цвет</a:t>
            </a:r>
            <a:endParaRPr lang="ru-RU" sz="1000" dirty="0">
              <a:latin typeface="Arial" panose="020B0604020202020204" pitchFamily="34" charset="0"/>
            </a:endParaRPr>
          </a:p>
        </p:txBody>
      </p:sp>
      <p:sp>
        <p:nvSpPr>
          <p:cNvPr id="54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Дополнительный цвет</a:t>
            </a:r>
            <a:endParaRPr lang="ru-RU" sz="1000" dirty="0">
              <a:latin typeface="Arial" panose="020B0604020202020204" pitchFamily="34" charset="0"/>
            </a:endParaRPr>
          </a:p>
        </p:txBody>
      </p:sp>
      <p:sp>
        <p:nvSpPr>
          <p:cNvPr id="55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университета</a:t>
            </a:r>
            <a:br>
              <a:rPr lang="ru-RU" sz="2400" baseline="30000" dirty="0">
                <a:latin typeface="Arial" panose="020B0604020202020204" pitchFamily="34" charset="0"/>
              </a:rPr>
            </a:br>
            <a:r>
              <a:rPr lang="ru-RU" sz="2400" baseline="30000" dirty="0">
                <a:latin typeface="Arial" panose="020B0604020202020204" pitchFamily="34" charset="0"/>
              </a:rPr>
              <a:t>и филиалов</a:t>
            </a:r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56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Градиент</a:t>
            </a:r>
            <a:endParaRPr lang="ru-RU" sz="1000" dirty="0">
              <a:latin typeface="Arial" panose="020B0604020202020204" pitchFamily="34" charset="0"/>
            </a:endParaRPr>
          </a:p>
        </p:txBody>
      </p:sp>
      <p:sp>
        <p:nvSpPr>
          <p:cNvPr id="57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институтов</a:t>
            </a:r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58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колледжа</a:t>
            </a:r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59" name="TextBox 57"/>
          <p:cNvSpPr txBox="1"/>
          <p:nvPr userDrawn="1"/>
        </p:nvSpPr>
        <p:spPr bwMode="auto">
          <a:xfrm>
            <a:off x="6912299" y="5108115"/>
            <a:ext cx="5089201" cy="219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Института международного образования</a:t>
            </a:r>
            <a:endParaRPr lang="ru-RU" sz="2400" baseline="30000" dirty="0">
              <a:latin typeface="Arial" panose="020B0604020202020204" pitchFamily="34" charset="0"/>
            </a:endParaRPr>
          </a:p>
          <a:p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ИИИ</a:t>
            </a:r>
            <a:endParaRPr lang="ru-RU" sz="2400" baseline="30000" dirty="0">
              <a:latin typeface="Arial" panose="020B0604020202020204" pitchFamily="34" charset="0"/>
            </a:endParaRPr>
          </a:p>
        </p:txBody>
      </p:sp>
      <p:grpSp>
        <p:nvGrpSpPr>
          <p:cNvPr id="96" name="Группа 95"/>
          <p:cNvGrpSpPr/>
          <p:nvPr userDrawn="1"/>
        </p:nvGrpSpPr>
        <p:grpSpPr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</p:grpSp>
      <p:sp>
        <p:nvSpPr>
          <p:cNvPr id="63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Чтобы взять необходимый цвет на слайд, воспользуйтесь инструментом «Пипетка»</a:t>
            </a:r>
            <a:endParaRPr lang="ru-RU" sz="2400" baseline="30000" dirty="0">
              <a:latin typeface="Arial" panose="020B0604020202020204" pitchFamily="34" charset="0"/>
            </a:endParaRPr>
          </a:p>
        </p:txBody>
      </p:sp>
      <p:grpSp>
        <p:nvGrpSpPr>
          <p:cNvPr id="97" name="Группа 96"/>
          <p:cNvGrpSpPr/>
          <p:nvPr userDrawn="1"/>
        </p:nvGrpSpPr>
        <p:grpSpPr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ИТХТ</a:t>
              </a:r>
              <a:endParaRPr lang="ru-RU" sz="2400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8" name="Группа 67"/>
          <p:cNvGrpSpPr/>
          <p:nvPr userDrawn="1"/>
        </p:nvGrpSpPr>
        <p:grpSpPr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ИРИ</a:t>
              </a:r>
              <a:endParaRPr lang="ru-RU" sz="2400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2" name="Группа 71"/>
          <p:cNvGrpSpPr/>
          <p:nvPr userDrawn="1"/>
        </p:nvGrpSpPr>
        <p:grpSpPr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ИИТ</a:t>
              </a:r>
              <a:endParaRPr lang="ru-RU" sz="2400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" name="Группа 91"/>
          <p:cNvGrpSpPr/>
          <p:nvPr userDrawn="1"/>
        </p:nvGrpSpPr>
        <p:grpSpPr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ИКБ</a:t>
              </a:r>
              <a:endParaRPr lang="ru-RU" sz="2400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3" name="Группа 92"/>
          <p:cNvGrpSpPr/>
          <p:nvPr userDrawn="1"/>
        </p:nvGrpSpPr>
        <p:grpSpPr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ИТУ</a:t>
              </a:r>
              <a:endParaRPr lang="ru-RU" sz="2400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5" name="Группа 94"/>
          <p:cNvGrpSpPr/>
          <p:nvPr userDrawn="1"/>
        </p:nvGrpSpPr>
        <p:grpSpPr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ИПТИП</a:t>
              </a:r>
              <a:endParaRPr lang="ru-RU" sz="2400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4" name="Группа 93"/>
          <p:cNvGrpSpPr/>
          <p:nvPr userDrawn="1"/>
        </p:nvGrpSpPr>
        <p:grpSpPr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ПИШ</a:t>
              </a:r>
              <a:endParaRPr lang="ru-RU" sz="2400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  <a:endParaRPr lang="ru-RU" sz="10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" name="Группа 5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7" name="Полилиния: фигура 5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9" name="Полилиния: фигура 17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18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145" indent="-144145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  <a:endParaRPr lang="ru-RU" dirty="0"/>
          </a:p>
        </p:txBody>
      </p:sp>
      <p:sp>
        <p:nvSpPr>
          <p:cNvPr id="32" name="Рисунок 31"/>
          <p:cNvSpPr>
            <a:spLocks noGrp="1"/>
          </p:cNvSpPr>
          <p:nvPr>
            <p:ph type="pic" sz="quarter" idx="14"/>
          </p:nvPr>
        </p:nvSpPr>
        <p:spPr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несколькими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Рисунок 31"/>
          <p:cNvSpPr>
            <a:spLocks noGrp="1"/>
          </p:cNvSpPr>
          <p:nvPr>
            <p:ph type="pic" sz="quarter" idx="14"/>
          </p:nvPr>
        </p:nvSpPr>
        <p:spPr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1" name="Рисунок 31"/>
          <p:cNvSpPr>
            <a:spLocks noGrp="1"/>
          </p:cNvSpPr>
          <p:nvPr>
            <p:ph type="pic" sz="quarter" idx="20"/>
          </p:nvPr>
        </p:nvSpPr>
        <p:spPr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Рисунок 31"/>
          <p:cNvSpPr>
            <a:spLocks noGrp="1"/>
          </p:cNvSpPr>
          <p:nvPr>
            <p:ph type="pic" sz="quarter" idx="21"/>
          </p:nvPr>
        </p:nvSpPr>
        <p:spPr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6" name="Рисунок 31"/>
          <p:cNvSpPr>
            <a:spLocks noGrp="1"/>
          </p:cNvSpPr>
          <p:nvPr>
            <p:ph type="pic" sz="quarter" idx="22"/>
          </p:nvPr>
        </p:nvSpPr>
        <p:spPr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Рисунок 31"/>
          <p:cNvSpPr>
            <a:spLocks noGrp="1"/>
          </p:cNvSpPr>
          <p:nvPr>
            <p:ph type="pic" sz="quarter" idx="23"/>
          </p:nvPr>
        </p:nvSpPr>
        <p:spPr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8" name="Рисунок 31"/>
          <p:cNvSpPr>
            <a:spLocks noGrp="1"/>
          </p:cNvSpPr>
          <p:nvPr>
            <p:ph type="pic" sz="quarter" idx="24"/>
          </p:nvPr>
        </p:nvSpPr>
        <p:spPr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" name="Группа 5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7" name="Полилиния: фигура 5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9" name="Полилиния: фигура 17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18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145" indent="-144145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  <a:endParaRPr lang="ru-RU" dirty="0"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 в три или четыре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диаграмм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" name="Группа 5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7" name="Полилиния: фигура 5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9" name="Полилиния: фигура 17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18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33" name="Диаграмма 32"/>
          <p:cNvSpPr>
            <a:spLocks noGrp="1"/>
          </p:cNvSpPr>
          <p:nvPr>
            <p:ph type="chart" sz="quarter" idx="20"/>
          </p:nvPr>
        </p:nvSpPr>
        <p:spPr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2" name="Текст 42"/>
          <p:cNvSpPr>
            <a:spLocks noGrp="1"/>
          </p:cNvSpPr>
          <p:nvPr>
            <p:ph type="body" sz="quarter" idx="21" hasCustomPrompt="1"/>
          </p:nvPr>
        </p:nvSpPr>
        <p:spPr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44" name="Диаграмма 32"/>
          <p:cNvSpPr>
            <a:spLocks noGrp="1"/>
          </p:cNvSpPr>
          <p:nvPr>
            <p:ph type="chart" sz="quarter" idx="22"/>
          </p:nvPr>
        </p:nvSpPr>
        <p:spPr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Текст 42"/>
          <p:cNvSpPr>
            <a:spLocks noGrp="1"/>
          </p:cNvSpPr>
          <p:nvPr>
            <p:ph type="body" sz="quarter" idx="23" hasCustomPrompt="1"/>
          </p:nvPr>
        </p:nvSpPr>
        <p:spPr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46" name="Диаграмма 32"/>
          <p:cNvSpPr>
            <a:spLocks noGrp="1"/>
          </p:cNvSpPr>
          <p:nvPr>
            <p:ph type="chart" sz="quarter" idx="24"/>
          </p:nvPr>
        </p:nvSpPr>
        <p:spPr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" name="Группа 5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7" name="Полилиния: фигура 5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9" name="Полилиния: фигура 17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18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145" indent="-144145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езю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145" indent="-144145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  <a:endParaRPr lang="ru-RU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" name="Прямая соединительная линия 1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5" name="Группа 4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7" name="Полилиния: фигура 4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3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6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17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Обложка Фрязи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1081227">
            <a:off x="8502882" y="3391156"/>
            <a:ext cx="4641366" cy="464394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Полилиния: фигура 6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6" name="Группа 15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34" name="Текст 33"/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Обложка И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24" name="Полилиния: фигура 23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7" cstate="print"/>
          <a:srcRect l="3254" t="3254" r="3254" b="3254"/>
          <a:stretch>
            <a:fillRect/>
          </a:stretch>
        </p:blipFill>
        <p:spPr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26" name="Прямоугольник 25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Прямоугольник 26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 userDrawn="1"/>
        </p:nvPicPr>
        <p:blipFill>
          <a:blip r:embed="rId7" cstate="print"/>
          <a:srcRect l="3254" t="3254" r="3254" b="3254"/>
          <a:stretch>
            <a:fillRect/>
          </a:stretch>
        </p:blipFill>
        <p:spPr>
          <a:xfrm rot="7837172">
            <a:off x="1128220" y="896378"/>
            <a:ext cx="3912558" cy="3912558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7" name="Title 1"/>
          <p:cNvSpPr txBox="1"/>
          <p:nvPr userDrawn="1"/>
        </p:nvSpPr>
        <p:spPr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7E4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искусственного интеллекта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7E4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7E4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Обложка 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55" name="Рисунок 5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8100000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Полилиния: фигура 5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Title 1"/>
          <p:cNvSpPr txBox="1"/>
          <p:nvPr userDrawn="1"/>
        </p:nvSpPr>
        <p:spPr>
          <a:xfrm>
            <a:off x="2402922" y="167207"/>
            <a:ext cx="4926206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B26397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20" name="Группа 19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6397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Обложка ИИ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8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5" name="Рисунок 8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7200000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7" name="Рисунок 8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5" name="Полилиния: фигура 54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Прямоугольник 56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Прямоугольник 57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Title 1"/>
          <p:cNvSpPr txBox="1"/>
          <p:nvPr userDrawn="1"/>
        </p:nvSpPr>
        <p:spPr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06F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информационных технологий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706F6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61" name="Группа 60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83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06F6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Обложка И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7200000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Полилиния: фигура 3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Title 1"/>
          <p:cNvSpPr txBox="1"/>
          <p:nvPr userDrawn="1"/>
        </p:nvSpPr>
        <p:spPr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4C3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технологий управления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B24C33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28" name="Группа 27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4C3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Полилиния: фигура 11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Title 1"/>
          <p:cNvSpPr txBox="1"/>
          <p:nvPr userDrawn="1"/>
        </p:nvSpPr>
        <p:spPr>
          <a:xfrm>
            <a:off x="2402922" y="154725"/>
            <a:ext cx="7202131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перспективных технологий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 индустриального программирования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E9B62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21" name="Группа 20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9B62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ИР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0800000">
            <a:off x="8495717" y="3300804"/>
            <a:ext cx="4997470" cy="499747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7200000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88384" y="3067903"/>
            <a:ext cx="6877516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Полилиния: фигура 11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itle 1"/>
          <p:cNvSpPr txBox="1"/>
          <p:nvPr userDrawn="1"/>
        </p:nvSpPr>
        <p:spPr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1207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радиоэлектроники и информатики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712073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23" name="Группа 22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1207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Обложка ИК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Полилиния: фигура 6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>
          <a:xfrm>
            <a:off x="2402923" y="368869"/>
            <a:ext cx="3476768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6D8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кибербезопасности и цифровых технологий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6D8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16" name="Группа 15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6D8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_Обложка Коллед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9900000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Полилиния: фигура 6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>
          <a:xfrm>
            <a:off x="2402922" y="180857"/>
            <a:ext cx="6402705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Колледж программирования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 кибербезопасности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EA7125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16" name="Группа 15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A712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10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Обложка ПИ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6200000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Полилиния: фигура 6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>
          <a:xfrm>
            <a:off x="2402922" y="200292"/>
            <a:ext cx="8289422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Передовая инженерная школа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СВЧ-электроники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3D378D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grpSp>
        <p:nvGrpSpPr>
          <p:cNvPr id="16" name="Группа 15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  <a:endParaRPr kumimoji="0" lang="ru-RU" sz="1800" b="0" i="0" u="none" strike="noStrike" kern="1200" cap="none" spc="250" normalizeH="0" baseline="0" noProof="0" dirty="0">
              <a:ln>
                <a:noFill/>
              </a:ln>
              <a:solidFill>
                <a:srgbClr val="8291A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3D378D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  <a:endParaRPr lang="ru-RU" dirty="0"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  <a:endParaRPr lang="ru-RU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Раздел_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3" imgW="8890" imgH="8890" progId="TCLayout.ActiveDocument.1">
                  <p:embed/>
                </p:oleObj>
              </mc:Choice>
              <mc:Fallback>
                <p:oleObj name="Слайд think-cell" r:id="rId3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850600" y="2613958"/>
            <a:ext cx="5569500" cy="699404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accent5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  <a:endParaRPr lang="ru-RU" dirty="0"/>
          </a:p>
        </p:txBody>
      </p:sp>
      <p:sp>
        <p:nvSpPr>
          <p:cNvPr id="5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algn="ctr"/>
            <a:endParaRPr lang="ru-RU" sz="1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6"/>
          <p:cNvSpPr txBox="1"/>
          <p:nvPr userDrawn="1"/>
        </p:nvSpPr>
        <p:spPr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object 5"/>
          <p:cNvSpPr/>
          <p:nvPr userDrawn="1"/>
        </p:nvSpPr>
        <p:spPr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object 6"/>
          <p:cNvSpPr/>
          <p:nvPr userDrawn="1"/>
        </p:nvSpPr>
        <p:spPr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8" name="object 214"/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634170" y="1851797"/>
            <a:ext cx="1784387" cy="1784642"/>
          </a:xfrm>
          <a:prstGeom prst="rect">
            <a:avLst/>
          </a:prstGeom>
        </p:spPr>
      </p:pic>
      <p:pic>
        <p:nvPicPr>
          <p:cNvPr id="9" name="object 215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8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Спасибо за внимание</a:t>
            </a:r>
            <a:endParaRPr lang="ru-RU" sz="2800" b="1" kern="12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6000" y="150528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vmlDrawing" Target="../drawings/vmlDrawing19.vml"/><Relationship Id="rId23" Type="http://schemas.openxmlformats.org/officeDocument/2006/relationships/image" Target="../media/image25.emf"/><Relationship Id="rId22" Type="http://schemas.openxmlformats.org/officeDocument/2006/relationships/oleObject" Target="../embeddings/oleObject19.bin"/><Relationship Id="rId21" Type="http://schemas.openxmlformats.org/officeDocument/2006/relationships/tags" Target="../tags/tag35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Слайд think-cell" r:id="rId22" imgW="8890" imgH="8890" progId="TCLayout.ActiveDocument.1">
                  <p:embed/>
                </p:oleObj>
              </mc:Choice>
              <mc:Fallback>
                <p:oleObj name="Слайд think-cell" r:id="rId22" imgW="8890" imgH="8890" progId="TCLayout.ActiveDocument.1">
                  <p:embed/>
                  <p:pic>
                    <p:nvPicPr>
                      <p:cNvPr id="0" name="Объект 6" hidden="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/>
          <p:cNvSpPr>
            <a:spLocks noGrp="1"/>
          </p:cNvSpPr>
          <p:nvPr userDrawn="1">
            <p:ph type="title"/>
          </p:nvPr>
        </p:nvSpPr>
        <p:spPr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ru-RU" dirty="0" err="1"/>
              <a:t>pt</a:t>
            </a:r>
            <a:r>
              <a:rPr lang="ru-RU" dirty="0"/>
              <a:t>) </a:t>
            </a:r>
            <a:endParaRPr lang="ru-RU" dirty="0"/>
          </a:p>
        </p:txBody>
      </p:sp>
      <p:grpSp>
        <p:nvGrpSpPr>
          <p:cNvPr id="72" name="ИЦ" hidden="1"/>
          <p:cNvGrpSpPr>
            <a:grpSpLocks noChangeAspect="1"/>
          </p:cNvGrpSpPr>
          <p:nvPr userDrawn="1"/>
        </p:nvGrpSpPr>
        <p:grpSpPr>
          <a:xfrm>
            <a:off x="1254294" y="6387627"/>
            <a:ext cx="802663" cy="321812"/>
            <a:chOff x="664784" y="6387627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>
            <a:xfrm>
              <a:off x="664784" y="6387627"/>
              <a:ext cx="268176" cy="321812"/>
              <a:chOff x="664784" y="6387627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664784" y="6387627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768529" y="6496685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1" name="Московский транспорт" hidden="1"/>
          <p:cNvGrpSpPr>
            <a:grpSpLocks noChangeAspect="1"/>
          </p:cNvGrpSpPr>
          <p:nvPr userDrawn="1"/>
        </p:nvGrpSpPr>
        <p:grpSpPr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3" name="Московский метрополитен" hidden="1"/>
          <p:cNvGrpSpPr>
            <a:grpSpLocks noChangeAspect="1"/>
          </p:cNvGrpSpPr>
          <p:nvPr userDrawn="1"/>
        </p:nvGrpSpPr>
        <p:grpSpPr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>
            <a:xfrm>
              <a:off x="5087425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8" name="Мосгортранс" hidden="1"/>
          <p:cNvGrpSpPr>
            <a:grpSpLocks noChangeAspect="1"/>
          </p:cNvGrpSpPr>
          <p:nvPr userDrawn="1"/>
        </p:nvGrpSpPr>
        <p:grpSpPr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>
            <a:xfrm>
              <a:off x="690953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>
            <a:xfrm>
              <a:off x="7220045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3" name="Московский паркинг" hidden="1"/>
          <p:cNvGrpSpPr>
            <a:grpSpLocks noChangeAspect="1"/>
          </p:cNvGrpSpPr>
          <p:nvPr userDrawn="1"/>
        </p:nvGrpSpPr>
        <p:grpSpPr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9" name="Такси" hidden="1"/>
          <p:cNvGrpSpPr>
            <a:grpSpLocks noChangeAspect="1"/>
          </p:cNvGrpSpPr>
          <p:nvPr userDrawn="1"/>
        </p:nvGrpSpPr>
        <p:grpSpPr>
          <a:xfrm>
            <a:off x="1254294" y="6388794"/>
            <a:ext cx="559622" cy="319479"/>
            <a:chOff x="4975650" y="3912409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>
            <a:xfrm>
              <a:off x="5454853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>
            <a:xfrm>
              <a:off x="4975650" y="3912409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>
            <a:xfrm>
              <a:off x="5085759" y="4125198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4" name="ОП" hidden="1"/>
          <p:cNvGrpSpPr>
            <a:grpSpLocks noChangeAspect="1"/>
          </p:cNvGrpSpPr>
          <p:nvPr userDrawn="1"/>
        </p:nvGrpSpPr>
        <p:grpSpPr>
          <a:xfrm>
            <a:off x="1254294" y="6387627"/>
            <a:ext cx="857365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>
            <a:xfrm>
              <a:off x="5349304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" name="Велотранспорт" hidden="1"/>
          <p:cNvGrpSpPr>
            <a:grpSpLocks noChangeAspect="1"/>
          </p:cNvGrpSpPr>
          <p:nvPr userDrawn="1"/>
        </p:nvGrpSpPr>
        <p:grpSpPr>
          <a:xfrm>
            <a:off x="1254294" y="6387627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5" name="Полилиния: фигура 3"/>
            <p:cNvSpPr/>
            <p:nvPr/>
          </p:nvSpPr>
          <p:spPr>
            <a:xfrm>
              <a:off x="5615549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: фигура 4"/>
            <p:cNvSpPr/>
            <p:nvPr/>
          </p:nvSpPr>
          <p:spPr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5"/>
            <p:cNvSpPr/>
            <p:nvPr/>
          </p:nvSpPr>
          <p:spPr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7"/>
            <p:cNvSpPr/>
            <p:nvPr/>
          </p:nvSpPr>
          <p:spPr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8"/>
            <p:cNvSpPr/>
            <p:nvPr/>
          </p:nvSpPr>
          <p:spPr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9"/>
            <p:cNvSpPr/>
            <p:nvPr/>
          </p:nvSpPr>
          <p:spPr>
            <a:xfrm>
              <a:off x="5912167" y="3362325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Полилиния: фигура 10"/>
            <p:cNvSpPr/>
            <p:nvPr/>
          </p:nvSpPr>
          <p:spPr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1" kern="1200" dirty="0">
          <a:solidFill>
            <a:schemeClr val="accent5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None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44145" indent="-144145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Wingdings" panose="05000000000000000000" pitchFamily="2" charset="2"/>
        <a:buChar char="§"/>
        <a:defRPr lang="ru-RU" sz="1200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288290" indent="-144145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−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44145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▫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575945" indent="-144145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-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130425" y="1338580"/>
            <a:ext cx="7096125" cy="1685290"/>
          </a:xfrm>
        </p:spPr>
        <p:txBody>
          <a:bodyPr/>
          <a:lstStyle/>
          <a:p>
            <a:pPr algn="l"/>
            <a:r>
              <a:rPr lang="en-US" altLang="en-US" smtClean="0">
                <a:solidFill>
                  <a:schemeClr val="accent5"/>
                </a:solidFill>
                <a:sym typeface="+mn-ea"/>
              </a:rPr>
              <a:t>Интеллектуальная</a:t>
            </a:r>
            <a:r>
              <a:rPr lang="en-US" altLang="ru-RU" smtClean="0">
                <a:solidFill>
                  <a:schemeClr val="accent5"/>
                </a:solidFill>
                <a:sym typeface="+mn-ea"/>
              </a:rPr>
              <a:t> </a:t>
            </a:r>
            <a:r>
              <a:rPr lang="en-US" altLang="en-US" smtClean="0">
                <a:solidFill>
                  <a:schemeClr val="accent5"/>
                </a:solidFill>
                <a:sym typeface="+mn-ea"/>
              </a:rPr>
              <a:t>система</a:t>
            </a:r>
            <a:r>
              <a:rPr lang="en-US" altLang="ru-RU" smtClean="0">
                <a:solidFill>
                  <a:schemeClr val="accent5"/>
                </a:solidFill>
                <a:sym typeface="+mn-ea"/>
              </a:rPr>
              <a:t> </a:t>
            </a:r>
            <a:r>
              <a:rPr lang="en-US" altLang="en-US" smtClean="0">
                <a:solidFill>
                  <a:schemeClr val="accent5"/>
                </a:solidFill>
                <a:sym typeface="+mn-ea"/>
              </a:rPr>
              <a:t>подбора</a:t>
            </a:r>
            <a:r>
              <a:rPr altLang="en-US" smtClean="0">
                <a:solidFill>
                  <a:schemeClr val="accent5"/>
                </a:solidFill>
                <a:sym typeface="+mn-ea"/>
              </a:rPr>
              <a:t> </a:t>
            </a:r>
            <a:r>
              <a:rPr lang="en-US" altLang="en-US" smtClean="0">
                <a:solidFill>
                  <a:schemeClr val="accent5"/>
                </a:solidFill>
                <a:sym typeface="+mn-ea"/>
              </a:rPr>
              <a:t>треков</a:t>
            </a:r>
            <a:r>
              <a:rPr lang="en-US" altLang="ru-RU" smtClean="0">
                <a:solidFill>
                  <a:schemeClr val="accent5"/>
                </a:solidFill>
                <a:sym typeface="+mn-ea"/>
              </a:rPr>
              <a:t> </a:t>
            </a:r>
            <a:r>
              <a:rPr lang="en-US" altLang="en-US" smtClean="0">
                <a:solidFill>
                  <a:schemeClr val="accent5"/>
                </a:solidFill>
                <a:sym typeface="+mn-ea"/>
              </a:rPr>
              <a:t>по</a:t>
            </a:r>
            <a:r>
              <a:rPr lang="en-US" altLang="ru-RU" smtClean="0">
                <a:solidFill>
                  <a:schemeClr val="accent5"/>
                </a:solidFill>
                <a:sym typeface="+mn-ea"/>
              </a:rPr>
              <a:t> </a:t>
            </a:r>
            <a:r>
              <a:rPr lang="en-US" altLang="en-US" smtClean="0">
                <a:solidFill>
                  <a:schemeClr val="accent5"/>
                </a:solidFill>
                <a:sym typeface="+mn-ea"/>
              </a:rPr>
              <a:t>ритму</a:t>
            </a:r>
            <a:r>
              <a:rPr lang="en-US" altLang="ru-RU" smtClean="0">
                <a:solidFill>
                  <a:schemeClr val="accent5"/>
                </a:solidFill>
                <a:sym typeface="+mn-ea"/>
              </a:rPr>
              <a:t> </a:t>
            </a:r>
            <a:r>
              <a:rPr lang="en-US" altLang="en-US" smtClean="0">
                <a:solidFill>
                  <a:schemeClr val="accent5"/>
                </a:solidFill>
                <a:sym typeface="+mn-ea"/>
              </a:rPr>
              <a:t>движения</a:t>
            </a:r>
            <a:r>
              <a:rPr lang="en-US" altLang="ru-RU" smtClean="0">
                <a:solidFill>
                  <a:schemeClr val="accent5"/>
                </a:solidFill>
                <a:sym typeface="+mn-ea"/>
              </a:rPr>
              <a:t> </a:t>
            </a:r>
            <a:r>
              <a:rPr lang="en-US" altLang="en-US" smtClean="0">
                <a:solidFill>
                  <a:schemeClr val="accent5"/>
                </a:solidFill>
                <a:sym typeface="+mn-ea"/>
              </a:rPr>
              <a:t>пользователя</a:t>
            </a:r>
            <a:br>
              <a:rPr lang="ru-RU" dirty="0">
                <a:solidFill>
                  <a:schemeClr val="accent5"/>
                </a:solidFill>
              </a:rPr>
            </a:b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4"/>
          </p:nvPr>
        </p:nvSpPr>
        <p:spPr>
          <a:xfrm>
            <a:off x="2130425" y="3133090"/>
            <a:ext cx="6566535" cy="1436370"/>
          </a:xfrm>
        </p:spPr>
        <p:txBody>
          <a:bodyPr/>
          <a:lstStyle/>
          <a:p>
            <a:r>
              <a:rPr lang="ru-RU" sz="2400" dirty="0"/>
              <a:t>Студент</a:t>
            </a:r>
            <a:r>
              <a:rPr lang="en-US" sz="2400" dirty="0"/>
              <a:t>: </a:t>
            </a:r>
            <a:r>
              <a:rPr lang="ru-RU" sz="2400" dirty="0"/>
              <a:t>Свирская Варвара Александровна</a:t>
            </a:r>
            <a:endParaRPr lang="ru-RU" sz="2400" dirty="0"/>
          </a:p>
          <a:p>
            <a:r>
              <a:rPr lang="ru-RU" sz="2400" dirty="0"/>
              <a:t>Группа</a:t>
            </a:r>
            <a:r>
              <a:rPr lang="en-US" sz="2400" dirty="0"/>
              <a:t>: </a:t>
            </a:r>
            <a:r>
              <a:rPr lang="ru-RU" sz="2400" dirty="0"/>
              <a:t>ИКБО-22-22</a:t>
            </a:r>
            <a:br>
              <a:rPr lang="ru-RU" sz="2400" dirty="0"/>
            </a:br>
            <a:r>
              <a:rPr lang="ru-RU" sz="2400" dirty="0"/>
              <a:t>Руководитель</a:t>
            </a:r>
            <a:r>
              <a:rPr lang="en-US" sz="2400" dirty="0"/>
              <a:t>: </a:t>
            </a:r>
            <a:r>
              <a:rPr altLang="en-US" sz="2400" dirty="0">
                <a:sym typeface="+mn-ea"/>
              </a:rPr>
              <a:t>Лозовский Владимир Валерьевич</a:t>
            </a:r>
            <a:endParaRPr lang="ru-RU" altLang="en-US" sz="2400" dirty="0" smtClean="0">
              <a:solidFill>
                <a:schemeClr val="tx1"/>
              </a:solidFill>
            </a:endParaRPr>
          </a:p>
          <a:p>
            <a:endParaRPr lang="ru-RU" sz="2400" dirty="0"/>
          </a:p>
          <a:p>
            <a:endParaRPr lang="ru-RU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336000" y="150528"/>
            <a:ext cx="11520000" cy="8001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  <a:t>Актуальность</a:t>
            </a:r>
            <a:br>
              <a:rPr lang="en-US" altLang="en-US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461260" y="1755775"/>
            <a:ext cx="8864600" cy="70675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Музыка существенно влияет на мотивацию и эффективность физической активности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2461260" y="2977515"/>
            <a:ext cx="886460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2400">
                <a:solidFill>
                  <a:schemeClr val="tx1"/>
                </a:solidFill>
              </a:rPr>
              <a:t>Подбор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треков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вручную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не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учитывает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текущий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ритм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движения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2461895" y="4066540"/>
            <a:ext cx="886333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2400">
                <a:solidFill>
                  <a:schemeClr val="tx1"/>
                </a:solidFill>
              </a:rPr>
              <a:t>Отсутствуют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открытые системы</a:t>
            </a:r>
            <a:r>
              <a:rPr lang="en-US" altLang="ru-RU" sz="2400">
                <a:solidFill>
                  <a:schemeClr val="tx1"/>
                </a:solidFill>
              </a:rPr>
              <a:t>, </a:t>
            </a:r>
            <a:r>
              <a:rPr lang="en-US" altLang="en-US" sz="2400">
                <a:solidFill>
                  <a:schemeClr val="tx1"/>
                </a:solidFill>
              </a:rPr>
              <a:t>объединяющие: данные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движения</a:t>
            </a:r>
            <a:r>
              <a:rPr lang="en-US" altLang="ru-RU" sz="2400">
                <a:solidFill>
                  <a:schemeClr val="tx1"/>
                </a:solidFill>
              </a:rPr>
              <a:t> + </a:t>
            </a:r>
            <a:r>
              <a:rPr lang="en-US" altLang="en-US" sz="2400">
                <a:solidFill>
                  <a:schemeClr val="tx1"/>
                </a:solidFill>
              </a:rPr>
              <a:t>музыкальные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характеристики</a:t>
            </a:r>
            <a:r>
              <a:rPr lang="en-US" altLang="ru-RU" sz="2400">
                <a:solidFill>
                  <a:schemeClr val="tx1"/>
                </a:solidFill>
              </a:rPr>
              <a:t> + </a:t>
            </a:r>
            <a:r>
              <a:rPr lang="en-US" altLang="en-US" sz="2400">
                <a:solidFill>
                  <a:schemeClr val="tx1"/>
                </a:solidFill>
              </a:rPr>
              <a:t>предпочтения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пользователя</a:t>
            </a:r>
            <a:endParaRPr lang="en-US" altLang="en-US" sz="2400">
              <a:solidFill>
                <a:schemeClr val="tx1"/>
              </a:solidFill>
            </a:endParaRPr>
          </a:p>
        </p:txBody>
      </p:sp>
      <p:grpSp>
        <p:nvGrpSpPr>
          <p:cNvPr id="147" name="Рисунок 4"/>
          <p:cNvGrpSpPr/>
          <p:nvPr/>
        </p:nvGrpSpPr>
        <p:grpSpPr>
          <a:xfrm>
            <a:off x="1493879" y="1815245"/>
            <a:ext cx="773165" cy="773165"/>
            <a:chOff x="1558925" y="1531383"/>
            <a:chExt cx="773165" cy="773165"/>
          </a:xfrm>
        </p:grpSpPr>
        <p:sp>
          <p:nvSpPr>
            <p:cNvPr id="148" name="Полилиния: фигура 147"/>
            <p:cNvSpPr/>
            <p:nvPr/>
          </p:nvSpPr>
          <p:spPr>
            <a:xfrm>
              <a:off x="1558925" y="1531383"/>
              <a:ext cx="773165" cy="773165"/>
            </a:xfrm>
            <a:custGeom>
              <a:avLst/>
              <a:gdLst>
                <a:gd name="connsiteX0" fmla="*/ 108427 w 773165"/>
                <a:gd name="connsiteY0" fmla="*/ 773165 h 773165"/>
                <a:gd name="connsiteX1" fmla="*/ 664739 w 773165"/>
                <a:gd name="connsiteY1" fmla="*/ 773165 h 773165"/>
                <a:gd name="connsiteX2" fmla="*/ 773165 w 773165"/>
                <a:gd name="connsiteY2" fmla="*/ 664739 h 773165"/>
                <a:gd name="connsiteX3" fmla="*/ 773165 w 773165"/>
                <a:gd name="connsiteY3" fmla="*/ 108427 h 773165"/>
                <a:gd name="connsiteX4" fmla="*/ 664739 w 773165"/>
                <a:gd name="connsiteY4" fmla="*/ 0 h 773165"/>
                <a:gd name="connsiteX5" fmla="*/ 108427 w 773165"/>
                <a:gd name="connsiteY5" fmla="*/ 0 h 773165"/>
                <a:gd name="connsiteX6" fmla="*/ 0 w 773165"/>
                <a:gd name="connsiteY6" fmla="*/ 108427 h 773165"/>
                <a:gd name="connsiteX7" fmla="*/ 0 w 773165"/>
                <a:gd name="connsiteY7" fmla="*/ 664739 h 773165"/>
                <a:gd name="connsiteX8" fmla="*/ 108427 w 773165"/>
                <a:gd name="connsiteY8" fmla="*/ 773165 h 77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3165" h="773165">
                  <a:moveTo>
                    <a:pt x="108427" y="773165"/>
                  </a:moveTo>
                  <a:lnTo>
                    <a:pt x="664739" y="773165"/>
                  </a:lnTo>
                  <a:cubicBezTo>
                    <a:pt x="724621" y="773165"/>
                    <a:pt x="773165" y="724621"/>
                    <a:pt x="773165" y="664739"/>
                  </a:cubicBezTo>
                  <a:lnTo>
                    <a:pt x="773165" y="108427"/>
                  </a:lnTo>
                  <a:cubicBezTo>
                    <a:pt x="773165" y="48544"/>
                    <a:pt x="724621" y="0"/>
                    <a:pt x="664739" y="0"/>
                  </a:cubicBezTo>
                  <a:lnTo>
                    <a:pt x="108427" y="0"/>
                  </a:lnTo>
                  <a:cubicBezTo>
                    <a:pt x="48544" y="0"/>
                    <a:pt x="0" y="48544"/>
                    <a:pt x="0" y="108427"/>
                  </a:cubicBezTo>
                  <a:lnTo>
                    <a:pt x="0" y="664739"/>
                  </a:lnTo>
                  <a:cubicBezTo>
                    <a:pt x="0" y="724621"/>
                    <a:pt x="48544" y="773165"/>
                    <a:pt x="108427" y="773165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9" name="Рисунок 4"/>
            <p:cNvGrpSpPr/>
            <p:nvPr/>
          </p:nvGrpSpPr>
          <p:grpSpPr>
            <a:xfrm>
              <a:off x="1747107" y="1637586"/>
              <a:ext cx="448457" cy="496227"/>
              <a:chOff x="1747107" y="1637586"/>
              <a:chExt cx="448457" cy="496227"/>
            </a:xfrm>
            <a:solidFill>
              <a:srgbClr val="FFFFFF"/>
            </a:solidFill>
          </p:grpSpPr>
          <p:sp>
            <p:nvSpPr>
              <p:cNvPr id="150" name="Полилиния: фигура 149"/>
              <p:cNvSpPr/>
              <p:nvPr/>
            </p:nvSpPr>
            <p:spPr>
              <a:xfrm>
                <a:off x="1747107" y="1637586"/>
                <a:ext cx="365590" cy="496227"/>
              </a:xfrm>
              <a:custGeom>
                <a:avLst/>
                <a:gdLst>
                  <a:gd name="connsiteX0" fmla="*/ 165688 w 365590"/>
                  <a:gd name="connsiteY0" fmla="*/ 496228 h 496227"/>
                  <a:gd name="connsiteX1" fmla="*/ 10179 w 365590"/>
                  <a:gd name="connsiteY1" fmla="*/ 496228 h 496227"/>
                  <a:gd name="connsiteX2" fmla="*/ 0 w 365590"/>
                  <a:gd name="connsiteY2" fmla="*/ 486048 h 496227"/>
                  <a:gd name="connsiteX3" fmla="*/ 0 w 365590"/>
                  <a:gd name="connsiteY3" fmla="*/ 10178 h 496227"/>
                  <a:gd name="connsiteX4" fmla="*/ 10179 w 365590"/>
                  <a:gd name="connsiteY4" fmla="*/ 0 h 496227"/>
                  <a:gd name="connsiteX5" fmla="*/ 355412 w 365590"/>
                  <a:gd name="connsiteY5" fmla="*/ 0 h 496227"/>
                  <a:gd name="connsiteX6" fmla="*/ 365590 w 365590"/>
                  <a:gd name="connsiteY6" fmla="*/ 10178 h 496227"/>
                  <a:gd name="connsiteX7" fmla="*/ 365590 w 365590"/>
                  <a:gd name="connsiteY7" fmla="*/ 231016 h 496227"/>
                  <a:gd name="connsiteX8" fmla="*/ 355412 w 365590"/>
                  <a:gd name="connsiteY8" fmla="*/ 241195 h 496227"/>
                  <a:gd name="connsiteX9" fmla="*/ 345233 w 365590"/>
                  <a:gd name="connsiteY9" fmla="*/ 231016 h 496227"/>
                  <a:gd name="connsiteX10" fmla="*/ 345233 w 365590"/>
                  <a:gd name="connsiteY10" fmla="*/ 20358 h 496227"/>
                  <a:gd name="connsiteX11" fmla="*/ 20359 w 365590"/>
                  <a:gd name="connsiteY11" fmla="*/ 20358 h 496227"/>
                  <a:gd name="connsiteX12" fmla="*/ 20359 w 365590"/>
                  <a:gd name="connsiteY12" fmla="*/ 475870 h 496227"/>
                  <a:gd name="connsiteX13" fmla="*/ 165688 w 365590"/>
                  <a:gd name="connsiteY13" fmla="*/ 475870 h 496227"/>
                  <a:gd name="connsiteX14" fmla="*/ 175867 w 365590"/>
                  <a:gd name="connsiteY14" fmla="*/ 486048 h 496227"/>
                  <a:gd name="connsiteX15" fmla="*/ 165688 w 365590"/>
                  <a:gd name="connsiteY15" fmla="*/ 496228 h 49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65590" h="496227">
                    <a:moveTo>
                      <a:pt x="165688" y="496228"/>
                    </a:moveTo>
                    <a:lnTo>
                      <a:pt x="10179" y="496228"/>
                    </a:lnTo>
                    <a:cubicBezTo>
                      <a:pt x="4553" y="496228"/>
                      <a:pt x="0" y="491655"/>
                      <a:pt x="0" y="486048"/>
                    </a:cubicBezTo>
                    <a:lnTo>
                      <a:pt x="0" y="10178"/>
                    </a:lnTo>
                    <a:cubicBezTo>
                      <a:pt x="0" y="4572"/>
                      <a:pt x="4553" y="0"/>
                      <a:pt x="10179" y="0"/>
                    </a:cubicBezTo>
                    <a:lnTo>
                      <a:pt x="355412" y="0"/>
                    </a:lnTo>
                    <a:cubicBezTo>
                      <a:pt x="361038" y="0"/>
                      <a:pt x="365590" y="4572"/>
                      <a:pt x="365590" y="10178"/>
                    </a:cubicBezTo>
                    <a:lnTo>
                      <a:pt x="365590" y="231016"/>
                    </a:lnTo>
                    <a:cubicBezTo>
                      <a:pt x="365590" y="236623"/>
                      <a:pt x="361038" y="241195"/>
                      <a:pt x="355412" y="241195"/>
                    </a:cubicBezTo>
                    <a:cubicBezTo>
                      <a:pt x="349786" y="241195"/>
                      <a:pt x="345233" y="236623"/>
                      <a:pt x="345233" y="231016"/>
                    </a:cubicBezTo>
                    <a:lnTo>
                      <a:pt x="345233" y="20358"/>
                    </a:lnTo>
                    <a:lnTo>
                      <a:pt x="20359" y="20358"/>
                    </a:lnTo>
                    <a:lnTo>
                      <a:pt x="20359" y="475870"/>
                    </a:lnTo>
                    <a:lnTo>
                      <a:pt x="165688" y="475870"/>
                    </a:lnTo>
                    <a:cubicBezTo>
                      <a:pt x="171314" y="475870"/>
                      <a:pt x="175867" y="480442"/>
                      <a:pt x="175867" y="486048"/>
                    </a:cubicBezTo>
                    <a:cubicBezTo>
                      <a:pt x="175867" y="491655"/>
                      <a:pt x="171314" y="496228"/>
                      <a:pt x="165688" y="4962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1" name="Полилиния: фигура 150"/>
              <p:cNvSpPr/>
              <p:nvPr/>
            </p:nvSpPr>
            <p:spPr>
              <a:xfrm>
                <a:off x="1790647" y="1712258"/>
                <a:ext cx="262964" cy="20358"/>
              </a:xfrm>
              <a:custGeom>
                <a:avLst/>
                <a:gdLst>
                  <a:gd name="connsiteX0" fmla="*/ 252786 w 262964"/>
                  <a:gd name="connsiteY0" fmla="*/ 20359 h 20358"/>
                  <a:gd name="connsiteX1" fmla="*/ 10178 w 262964"/>
                  <a:gd name="connsiteY1" fmla="*/ 20359 h 20358"/>
                  <a:gd name="connsiteX2" fmla="*/ 0 w 262964"/>
                  <a:gd name="connsiteY2" fmla="*/ 10179 h 20358"/>
                  <a:gd name="connsiteX3" fmla="*/ 10178 w 262964"/>
                  <a:gd name="connsiteY3" fmla="*/ 0 h 20358"/>
                  <a:gd name="connsiteX4" fmla="*/ 252786 w 262964"/>
                  <a:gd name="connsiteY4" fmla="*/ 0 h 20358"/>
                  <a:gd name="connsiteX5" fmla="*/ 262964 w 262964"/>
                  <a:gd name="connsiteY5" fmla="*/ 10179 h 20358"/>
                  <a:gd name="connsiteX6" fmla="*/ 252786 w 262964"/>
                  <a:gd name="connsiteY6" fmla="*/ 20359 h 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2964" h="20358">
                    <a:moveTo>
                      <a:pt x="252786" y="20359"/>
                    </a:moveTo>
                    <a:lnTo>
                      <a:pt x="10178" y="20359"/>
                    </a:lnTo>
                    <a:cubicBezTo>
                      <a:pt x="4553" y="20359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252786" y="0"/>
                    </a:lnTo>
                    <a:cubicBezTo>
                      <a:pt x="258412" y="0"/>
                      <a:pt x="262964" y="4573"/>
                      <a:pt x="262964" y="10179"/>
                    </a:cubicBezTo>
                    <a:cubicBezTo>
                      <a:pt x="262964" y="15786"/>
                      <a:pt x="258412" y="20359"/>
                      <a:pt x="252786" y="20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2" name="Полилиния: фигура 151"/>
              <p:cNvSpPr/>
              <p:nvPr/>
            </p:nvSpPr>
            <p:spPr>
              <a:xfrm>
                <a:off x="1790647" y="1777547"/>
                <a:ext cx="132327" cy="20358"/>
              </a:xfrm>
              <a:custGeom>
                <a:avLst/>
                <a:gdLst>
                  <a:gd name="connsiteX0" fmla="*/ 122149 w 132327"/>
                  <a:gd name="connsiteY0" fmla="*/ 20359 h 20358"/>
                  <a:gd name="connsiteX1" fmla="*/ 10178 w 132327"/>
                  <a:gd name="connsiteY1" fmla="*/ 20359 h 20358"/>
                  <a:gd name="connsiteX2" fmla="*/ 0 w 132327"/>
                  <a:gd name="connsiteY2" fmla="*/ 10179 h 20358"/>
                  <a:gd name="connsiteX3" fmla="*/ 10178 w 132327"/>
                  <a:gd name="connsiteY3" fmla="*/ 0 h 20358"/>
                  <a:gd name="connsiteX4" fmla="*/ 122149 w 132327"/>
                  <a:gd name="connsiteY4" fmla="*/ 0 h 20358"/>
                  <a:gd name="connsiteX5" fmla="*/ 132327 w 132327"/>
                  <a:gd name="connsiteY5" fmla="*/ 10179 h 20358"/>
                  <a:gd name="connsiteX6" fmla="*/ 122149 w 132327"/>
                  <a:gd name="connsiteY6" fmla="*/ 20359 h 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2327" h="20358">
                    <a:moveTo>
                      <a:pt x="122149" y="20359"/>
                    </a:moveTo>
                    <a:lnTo>
                      <a:pt x="10178" y="20359"/>
                    </a:lnTo>
                    <a:cubicBezTo>
                      <a:pt x="4553" y="20359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122149" y="0"/>
                    </a:lnTo>
                    <a:cubicBezTo>
                      <a:pt x="127774" y="0"/>
                      <a:pt x="132327" y="4573"/>
                      <a:pt x="132327" y="10179"/>
                    </a:cubicBezTo>
                    <a:cubicBezTo>
                      <a:pt x="132327" y="15786"/>
                      <a:pt x="127774" y="20359"/>
                      <a:pt x="122149" y="20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3" name="Полилиния: фигура 152"/>
              <p:cNvSpPr/>
              <p:nvPr/>
            </p:nvSpPr>
            <p:spPr>
              <a:xfrm>
                <a:off x="1790647" y="1845978"/>
                <a:ext cx="138549" cy="20357"/>
              </a:xfrm>
              <a:custGeom>
                <a:avLst/>
                <a:gdLst>
                  <a:gd name="connsiteX0" fmla="*/ 128371 w 138549"/>
                  <a:gd name="connsiteY0" fmla="*/ 20358 h 20357"/>
                  <a:gd name="connsiteX1" fmla="*/ 10178 w 138549"/>
                  <a:gd name="connsiteY1" fmla="*/ 20358 h 20357"/>
                  <a:gd name="connsiteX2" fmla="*/ 0 w 138549"/>
                  <a:gd name="connsiteY2" fmla="*/ 10179 h 20357"/>
                  <a:gd name="connsiteX3" fmla="*/ 10178 w 138549"/>
                  <a:gd name="connsiteY3" fmla="*/ 0 h 20357"/>
                  <a:gd name="connsiteX4" fmla="*/ 128371 w 138549"/>
                  <a:gd name="connsiteY4" fmla="*/ 0 h 20357"/>
                  <a:gd name="connsiteX5" fmla="*/ 138550 w 138549"/>
                  <a:gd name="connsiteY5" fmla="*/ 10179 h 20357"/>
                  <a:gd name="connsiteX6" fmla="*/ 128371 w 138549"/>
                  <a:gd name="connsiteY6" fmla="*/ 20358 h 20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549" h="20357">
                    <a:moveTo>
                      <a:pt x="128371" y="20358"/>
                    </a:moveTo>
                    <a:lnTo>
                      <a:pt x="10178" y="20358"/>
                    </a:lnTo>
                    <a:cubicBezTo>
                      <a:pt x="4553" y="20358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128371" y="0"/>
                    </a:lnTo>
                    <a:cubicBezTo>
                      <a:pt x="133997" y="0"/>
                      <a:pt x="138550" y="4573"/>
                      <a:pt x="138550" y="10179"/>
                    </a:cubicBezTo>
                    <a:cubicBezTo>
                      <a:pt x="138550" y="15786"/>
                      <a:pt x="133997" y="20358"/>
                      <a:pt x="128371" y="203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4" name="Полилиния: фигура 153"/>
              <p:cNvSpPr/>
              <p:nvPr/>
            </p:nvSpPr>
            <p:spPr>
              <a:xfrm>
                <a:off x="1869060" y="1749952"/>
                <a:ext cx="326504" cy="383225"/>
              </a:xfrm>
              <a:custGeom>
                <a:avLst/>
                <a:gdLst>
                  <a:gd name="connsiteX0" fmla="*/ 198170 w 326504"/>
                  <a:gd name="connsiteY0" fmla="*/ 383225 h 383225"/>
                  <a:gd name="connsiteX1" fmla="*/ 126161 w 326504"/>
                  <a:gd name="connsiteY1" fmla="*/ 371972 h 383225"/>
                  <a:gd name="connsiteX2" fmla="*/ 41966 w 326504"/>
                  <a:gd name="connsiteY2" fmla="*/ 265410 h 383225"/>
                  <a:gd name="connsiteX3" fmla="*/ 7810 w 326504"/>
                  <a:gd name="connsiteY3" fmla="*/ 215430 h 383225"/>
                  <a:gd name="connsiteX4" fmla="*/ 633 w 326504"/>
                  <a:gd name="connsiteY4" fmla="*/ 198213 h 383225"/>
                  <a:gd name="connsiteX5" fmla="*/ 51310 w 326504"/>
                  <a:gd name="connsiteY5" fmla="*/ 182865 h 383225"/>
                  <a:gd name="connsiteX6" fmla="*/ 107771 w 326504"/>
                  <a:gd name="connsiteY6" fmla="*/ 219326 h 383225"/>
                  <a:gd name="connsiteX7" fmla="*/ 106957 w 326504"/>
                  <a:gd name="connsiteY7" fmla="*/ 49543 h 383225"/>
                  <a:gd name="connsiteX8" fmla="*/ 139083 w 326504"/>
                  <a:gd name="connsiteY8" fmla="*/ 0 h 383225"/>
                  <a:gd name="connsiteX9" fmla="*/ 139681 w 326504"/>
                  <a:gd name="connsiteY9" fmla="*/ 0 h 383225"/>
                  <a:gd name="connsiteX10" fmla="*/ 185386 w 326504"/>
                  <a:gd name="connsiteY10" fmla="*/ 36264 h 383225"/>
                  <a:gd name="connsiteX11" fmla="*/ 188230 w 326504"/>
                  <a:gd name="connsiteY11" fmla="*/ 164297 h 383225"/>
                  <a:gd name="connsiteX12" fmla="*/ 211211 w 326504"/>
                  <a:gd name="connsiteY12" fmla="*/ 164813 h 383225"/>
                  <a:gd name="connsiteX13" fmla="*/ 233081 w 326504"/>
                  <a:gd name="connsiteY13" fmla="*/ 180122 h 383225"/>
                  <a:gd name="connsiteX14" fmla="*/ 250397 w 326504"/>
                  <a:gd name="connsiteY14" fmla="*/ 177856 h 383225"/>
                  <a:gd name="connsiteX15" fmla="*/ 284413 w 326504"/>
                  <a:gd name="connsiteY15" fmla="*/ 193720 h 383225"/>
                  <a:gd name="connsiteX16" fmla="*/ 308548 w 326504"/>
                  <a:gd name="connsiteY16" fmla="*/ 198890 h 383225"/>
                  <a:gd name="connsiteX17" fmla="*/ 325647 w 326504"/>
                  <a:gd name="connsiteY17" fmla="*/ 232090 h 383225"/>
                  <a:gd name="connsiteX18" fmla="*/ 319265 w 326504"/>
                  <a:gd name="connsiteY18" fmla="*/ 256703 h 383225"/>
                  <a:gd name="connsiteX19" fmla="*/ 289781 w 326504"/>
                  <a:gd name="connsiteY19" fmla="*/ 358334 h 383225"/>
                  <a:gd name="connsiteX20" fmla="*/ 211152 w 326504"/>
                  <a:gd name="connsiteY20" fmla="*/ 382589 h 383225"/>
                  <a:gd name="connsiteX21" fmla="*/ 211152 w 326504"/>
                  <a:gd name="connsiteY21" fmla="*/ 382589 h 383225"/>
                  <a:gd name="connsiteX22" fmla="*/ 198170 w 326504"/>
                  <a:gd name="connsiteY22" fmla="*/ 383225 h 383225"/>
                  <a:gd name="connsiteX23" fmla="*/ 25862 w 326504"/>
                  <a:gd name="connsiteY23" fmla="*/ 205171 h 383225"/>
                  <a:gd name="connsiteX24" fmla="*/ 59103 w 326504"/>
                  <a:gd name="connsiteY24" fmla="*/ 254397 h 383225"/>
                  <a:gd name="connsiteX25" fmla="*/ 131390 w 326504"/>
                  <a:gd name="connsiteY25" fmla="*/ 352291 h 383225"/>
                  <a:gd name="connsiteX26" fmla="*/ 209005 w 326504"/>
                  <a:gd name="connsiteY26" fmla="*/ 362310 h 383225"/>
                  <a:gd name="connsiteX27" fmla="*/ 209045 w 326504"/>
                  <a:gd name="connsiteY27" fmla="*/ 362310 h 383225"/>
                  <a:gd name="connsiteX28" fmla="*/ 272564 w 326504"/>
                  <a:gd name="connsiteY28" fmla="*/ 347519 h 383225"/>
                  <a:gd name="connsiteX29" fmla="*/ 299543 w 326504"/>
                  <a:gd name="connsiteY29" fmla="*/ 251692 h 383225"/>
                  <a:gd name="connsiteX30" fmla="*/ 306143 w 326504"/>
                  <a:gd name="connsiteY30" fmla="*/ 226245 h 383225"/>
                  <a:gd name="connsiteX31" fmla="*/ 295527 w 326504"/>
                  <a:gd name="connsiteY31" fmla="*/ 214914 h 383225"/>
                  <a:gd name="connsiteX32" fmla="*/ 286600 w 326504"/>
                  <a:gd name="connsiteY32" fmla="*/ 214754 h 383225"/>
                  <a:gd name="connsiteX33" fmla="*/ 276003 w 326504"/>
                  <a:gd name="connsiteY33" fmla="*/ 216702 h 383225"/>
                  <a:gd name="connsiteX34" fmla="*/ 269602 w 326504"/>
                  <a:gd name="connsiteY34" fmla="*/ 207995 h 383225"/>
                  <a:gd name="connsiteX35" fmla="*/ 247137 w 326504"/>
                  <a:gd name="connsiteY35" fmla="*/ 198054 h 383225"/>
                  <a:gd name="connsiteX36" fmla="*/ 238031 w 326504"/>
                  <a:gd name="connsiteY36" fmla="*/ 201832 h 383225"/>
                  <a:gd name="connsiteX37" fmla="*/ 226957 w 326504"/>
                  <a:gd name="connsiteY37" fmla="*/ 209585 h 383225"/>
                  <a:gd name="connsiteX38" fmla="*/ 217951 w 326504"/>
                  <a:gd name="connsiteY38" fmla="*/ 199486 h 383225"/>
                  <a:gd name="connsiteX39" fmla="*/ 208766 w 326504"/>
                  <a:gd name="connsiteY39" fmla="*/ 185370 h 383225"/>
                  <a:gd name="connsiteX40" fmla="*/ 186460 w 326504"/>
                  <a:gd name="connsiteY40" fmla="*/ 186682 h 383225"/>
                  <a:gd name="connsiteX41" fmla="*/ 175029 w 326504"/>
                  <a:gd name="connsiteY41" fmla="*/ 191414 h 383225"/>
                  <a:gd name="connsiteX42" fmla="*/ 167613 w 326504"/>
                  <a:gd name="connsiteY42" fmla="*/ 181235 h 383225"/>
                  <a:gd name="connsiteX43" fmla="*/ 165128 w 326504"/>
                  <a:gd name="connsiteY43" fmla="*/ 38530 h 383225"/>
                  <a:gd name="connsiteX44" fmla="*/ 138487 w 326504"/>
                  <a:gd name="connsiteY44" fmla="*/ 20438 h 383225"/>
                  <a:gd name="connsiteX45" fmla="*/ 127314 w 326504"/>
                  <a:gd name="connsiteY45" fmla="*/ 49941 h 383225"/>
                  <a:gd name="connsiteX46" fmla="*/ 128607 w 326504"/>
                  <a:gd name="connsiteY46" fmla="*/ 245729 h 383225"/>
                  <a:gd name="connsiteX47" fmla="*/ 122046 w 326504"/>
                  <a:gd name="connsiteY47" fmla="*/ 255430 h 383225"/>
                  <a:gd name="connsiteX48" fmla="*/ 110694 w 326504"/>
                  <a:gd name="connsiteY48" fmla="*/ 252528 h 383225"/>
                  <a:gd name="connsiteX49" fmla="*/ 51310 w 326504"/>
                  <a:gd name="connsiteY49" fmla="*/ 203224 h 383225"/>
                  <a:gd name="connsiteX50" fmla="*/ 25862 w 326504"/>
                  <a:gd name="connsiteY50" fmla="*/ 205171 h 38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26504" h="383225">
                    <a:moveTo>
                      <a:pt x="198170" y="383225"/>
                    </a:moveTo>
                    <a:cubicBezTo>
                      <a:pt x="178806" y="383225"/>
                      <a:pt x="154670" y="379447"/>
                      <a:pt x="126161" y="371972"/>
                    </a:cubicBezTo>
                    <a:cubicBezTo>
                      <a:pt x="109859" y="367678"/>
                      <a:pt x="86996" y="335631"/>
                      <a:pt x="41966" y="265410"/>
                    </a:cubicBezTo>
                    <a:cubicBezTo>
                      <a:pt x="28725" y="244734"/>
                      <a:pt x="12244" y="219048"/>
                      <a:pt x="7810" y="215430"/>
                    </a:cubicBezTo>
                    <a:cubicBezTo>
                      <a:pt x="-1494" y="208631"/>
                      <a:pt x="-322" y="201116"/>
                      <a:pt x="633" y="198213"/>
                    </a:cubicBezTo>
                    <a:cubicBezTo>
                      <a:pt x="2004" y="194039"/>
                      <a:pt x="5623" y="182865"/>
                      <a:pt x="51310" y="182865"/>
                    </a:cubicBezTo>
                    <a:cubicBezTo>
                      <a:pt x="67970" y="182865"/>
                      <a:pt x="91032" y="202468"/>
                      <a:pt x="107771" y="219326"/>
                    </a:cubicBezTo>
                    <a:cubicBezTo>
                      <a:pt x="107096" y="178452"/>
                      <a:pt x="106042" y="100001"/>
                      <a:pt x="106957" y="49543"/>
                    </a:cubicBezTo>
                    <a:cubicBezTo>
                      <a:pt x="107732" y="6998"/>
                      <a:pt x="127413" y="239"/>
                      <a:pt x="139083" y="0"/>
                    </a:cubicBezTo>
                    <a:cubicBezTo>
                      <a:pt x="139282" y="0"/>
                      <a:pt x="139482" y="0"/>
                      <a:pt x="139681" y="0"/>
                    </a:cubicBezTo>
                    <a:cubicBezTo>
                      <a:pt x="160456" y="0"/>
                      <a:pt x="184532" y="21432"/>
                      <a:pt x="185386" y="36264"/>
                    </a:cubicBezTo>
                    <a:cubicBezTo>
                      <a:pt x="187772" y="78371"/>
                      <a:pt x="189045" y="100717"/>
                      <a:pt x="188230" y="164297"/>
                    </a:cubicBezTo>
                    <a:cubicBezTo>
                      <a:pt x="195745" y="162785"/>
                      <a:pt x="204094" y="162944"/>
                      <a:pt x="211211" y="164813"/>
                    </a:cubicBezTo>
                    <a:cubicBezTo>
                      <a:pt x="220994" y="167358"/>
                      <a:pt x="228488" y="172725"/>
                      <a:pt x="233081" y="180122"/>
                    </a:cubicBezTo>
                    <a:cubicBezTo>
                      <a:pt x="237991" y="178174"/>
                      <a:pt x="243857" y="177219"/>
                      <a:pt x="250397" y="177856"/>
                    </a:cubicBezTo>
                    <a:cubicBezTo>
                      <a:pt x="263121" y="178849"/>
                      <a:pt x="276938" y="184774"/>
                      <a:pt x="284413" y="193720"/>
                    </a:cubicBezTo>
                    <a:cubicBezTo>
                      <a:pt x="291968" y="192050"/>
                      <a:pt x="300437" y="193759"/>
                      <a:pt x="308548" y="198890"/>
                    </a:cubicBezTo>
                    <a:cubicBezTo>
                      <a:pt x="319523" y="205808"/>
                      <a:pt x="329543" y="219167"/>
                      <a:pt x="325647" y="232090"/>
                    </a:cubicBezTo>
                    <a:cubicBezTo>
                      <a:pt x="324652" y="235430"/>
                      <a:pt x="322306" y="244694"/>
                      <a:pt x="319265" y="256703"/>
                    </a:cubicBezTo>
                    <a:cubicBezTo>
                      <a:pt x="304334" y="315630"/>
                      <a:pt x="295229" y="349268"/>
                      <a:pt x="289781" y="358334"/>
                    </a:cubicBezTo>
                    <a:cubicBezTo>
                      <a:pt x="280775" y="373325"/>
                      <a:pt x="236659" y="379965"/>
                      <a:pt x="211152" y="382589"/>
                    </a:cubicBezTo>
                    <a:lnTo>
                      <a:pt x="211152" y="382589"/>
                    </a:lnTo>
                    <a:cubicBezTo>
                      <a:pt x="207097" y="382987"/>
                      <a:pt x="202763" y="383225"/>
                      <a:pt x="198170" y="383225"/>
                    </a:cubicBezTo>
                    <a:close/>
                    <a:moveTo>
                      <a:pt x="25862" y="205171"/>
                    </a:moveTo>
                    <a:cubicBezTo>
                      <a:pt x="32562" y="213283"/>
                      <a:pt x="42204" y="228074"/>
                      <a:pt x="59103" y="254397"/>
                    </a:cubicBezTo>
                    <a:cubicBezTo>
                      <a:pt x="80097" y="287161"/>
                      <a:pt x="119203" y="348115"/>
                      <a:pt x="131390" y="352291"/>
                    </a:cubicBezTo>
                    <a:cubicBezTo>
                      <a:pt x="163776" y="360759"/>
                      <a:pt x="190655" y="364338"/>
                      <a:pt x="209005" y="362310"/>
                    </a:cubicBezTo>
                    <a:cubicBezTo>
                      <a:pt x="209025" y="362310"/>
                      <a:pt x="209025" y="362310"/>
                      <a:pt x="209045" y="362310"/>
                    </a:cubicBezTo>
                    <a:cubicBezTo>
                      <a:pt x="238389" y="359328"/>
                      <a:pt x="268071" y="352370"/>
                      <a:pt x="272564" y="347519"/>
                    </a:cubicBezTo>
                    <a:cubicBezTo>
                      <a:pt x="277256" y="339646"/>
                      <a:pt x="292863" y="278015"/>
                      <a:pt x="299543" y="251692"/>
                    </a:cubicBezTo>
                    <a:cubicBezTo>
                      <a:pt x="302684" y="239287"/>
                      <a:pt x="305110" y="229705"/>
                      <a:pt x="306143" y="226245"/>
                    </a:cubicBezTo>
                    <a:cubicBezTo>
                      <a:pt x="306242" y="224496"/>
                      <a:pt x="302366" y="218213"/>
                      <a:pt x="295527" y="214914"/>
                    </a:cubicBezTo>
                    <a:cubicBezTo>
                      <a:pt x="292823" y="213641"/>
                      <a:pt x="289065" y="212568"/>
                      <a:pt x="286600" y="214754"/>
                    </a:cubicBezTo>
                    <a:cubicBezTo>
                      <a:pt x="283738" y="217419"/>
                      <a:pt x="279602" y="218134"/>
                      <a:pt x="276003" y="216702"/>
                    </a:cubicBezTo>
                    <a:cubicBezTo>
                      <a:pt x="272386" y="215271"/>
                      <a:pt x="269901" y="211891"/>
                      <a:pt x="269602" y="207995"/>
                    </a:cubicBezTo>
                    <a:cubicBezTo>
                      <a:pt x="269065" y="205251"/>
                      <a:pt x="258827" y="198292"/>
                      <a:pt x="247137" y="198054"/>
                    </a:cubicBezTo>
                    <a:cubicBezTo>
                      <a:pt x="243140" y="197656"/>
                      <a:pt x="238786" y="198571"/>
                      <a:pt x="238031" y="201832"/>
                    </a:cubicBezTo>
                    <a:cubicBezTo>
                      <a:pt x="236859" y="206841"/>
                      <a:pt x="232226" y="210222"/>
                      <a:pt x="226957" y="209585"/>
                    </a:cubicBezTo>
                    <a:cubicBezTo>
                      <a:pt x="221828" y="208989"/>
                      <a:pt x="217951" y="204654"/>
                      <a:pt x="217951" y="199486"/>
                    </a:cubicBezTo>
                    <a:cubicBezTo>
                      <a:pt x="217951" y="192329"/>
                      <a:pt x="215029" y="187875"/>
                      <a:pt x="208766" y="185370"/>
                    </a:cubicBezTo>
                    <a:cubicBezTo>
                      <a:pt x="199541" y="181752"/>
                      <a:pt x="188448" y="184535"/>
                      <a:pt x="186460" y="186682"/>
                    </a:cubicBezTo>
                    <a:cubicBezTo>
                      <a:pt x="184174" y="190778"/>
                      <a:pt x="179581" y="192527"/>
                      <a:pt x="175029" y="191414"/>
                    </a:cubicBezTo>
                    <a:cubicBezTo>
                      <a:pt x="170535" y="190181"/>
                      <a:pt x="167534" y="185887"/>
                      <a:pt x="167613" y="181235"/>
                    </a:cubicBezTo>
                    <a:cubicBezTo>
                      <a:pt x="168885" y="104812"/>
                      <a:pt x="167633" y="82666"/>
                      <a:pt x="165128" y="38530"/>
                    </a:cubicBezTo>
                    <a:cubicBezTo>
                      <a:pt x="163776" y="32883"/>
                      <a:pt x="148587" y="20001"/>
                      <a:pt x="138487" y="20438"/>
                    </a:cubicBezTo>
                    <a:cubicBezTo>
                      <a:pt x="128865" y="21591"/>
                      <a:pt x="127473" y="41432"/>
                      <a:pt x="127314" y="49941"/>
                    </a:cubicBezTo>
                    <a:cubicBezTo>
                      <a:pt x="126042" y="119922"/>
                      <a:pt x="128587" y="244456"/>
                      <a:pt x="128607" y="245729"/>
                    </a:cubicBezTo>
                    <a:cubicBezTo>
                      <a:pt x="128686" y="250023"/>
                      <a:pt x="126062" y="253919"/>
                      <a:pt x="122046" y="255430"/>
                    </a:cubicBezTo>
                    <a:cubicBezTo>
                      <a:pt x="118049" y="257021"/>
                      <a:pt x="113477" y="255788"/>
                      <a:pt x="110694" y="252528"/>
                    </a:cubicBezTo>
                    <a:cubicBezTo>
                      <a:pt x="90335" y="228711"/>
                      <a:pt x="61608" y="203224"/>
                      <a:pt x="51310" y="203224"/>
                    </a:cubicBezTo>
                    <a:cubicBezTo>
                      <a:pt x="40773" y="203224"/>
                      <a:pt x="31886" y="204098"/>
                      <a:pt x="25862" y="2051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" name="Рисунок 4"/>
          <p:cNvGrpSpPr/>
          <p:nvPr/>
        </p:nvGrpSpPr>
        <p:grpSpPr>
          <a:xfrm>
            <a:off x="1493879" y="3049050"/>
            <a:ext cx="773165" cy="773165"/>
            <a:chOff x="1558925" y="1531383"/>
            <a:chExt cx="773165" cy="773165"/>
          </a:xfrm>
        </p:grpSpPr>
        <p:sp>
          <p:nvSpPr>
            <p:cNvPr id="26" name="Полилиния: фигура 25"/>
            <p:cNvSpPr/>
            <p:nvPr/>
          </p:nvSpPr>
          <p:spPr>
            <a:xfrm>
              <a:off x="1558925" y="1531383"/>
              <a:ext cx="773165" cy="773165"/>
            </a:xfrm>
            <a:custGeom>
              <a:avLst/>
              <a:gdLst>
                <a:gd name="connsiteX0" fmla="*/ 108427 w 773165"/>
                <a:gd name="connsiteY0" fmla="*/ 773165 h 773165"/>
                <a:gd name="connsiteX1" fmla="*/ 664739 w 773165"/>
                <a:gd name="connsiteY1" fmla="*/ 773165 h 773165"/>
                <a:gd name="connsiteX2" fmla="*/ 773165 w 773165"/>
                <a:gd name="connsiteY2" fmla="*/ 664739 h 773165"/>
                <a:gd name="connsiteX3" fmla="*/ 773165 w 773165"/>
                <a:gd name="connsiteY3" fmla="*/ 108427 h 773165"/>
                <a:gd name="connsiteX4" fmla="*/ 664739 w 773165"/>
                <a:gd name="connsiteY4" fmla="*/ 0 h 773165"/>
                <a:gd name="connsiteX5" fmla="*/ 108427 w 773165"/>
                <a:gd name="connsiteY5" fmla="*/ 0 h 773165"/>
                <a:gd name="connsiteX6" fmla="*/ 0 w 773165"/>
                <a:gd name="connsiteY6" fmla="*/ 108427 h 773165"/>
                <a:gd name="connsiteX7" fmla="*/ 0 w 773165"/>
                <a:gd name="connsiteY7" fmla="*/ 664739 h 773165"/>
                <a:gd name="connsiteX8" fmla="*/ 108427 w 773165"/>
                <a:gd name="connsiteY8" fmla="*/ 773165 h 77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3165" h="773165">
                  <a:moveTo>
                    <a:pt x="108427" y="773165"/>
                  </a:moveTo>
                  <a:lnTo>
                    <a:pt x="664739" y="773165"/>
                  </a:lnTo>
                  <a:cubicBezTo>
                    <a:pt x="724621" y="773165"/>
                    <a:pt x="773165" y="724621"/>
                    <a:pt x="773165" y="664739"/>
                  </a:cubicBezTo>
                  <a:lnTo>
                    <a:pt x="773165" y="108427"/>
                  </a:lnTo>
                  <a:cubicBezTo>
                    <a:pt x="773165" y="48544"/>
                    <a:pt x="724621" y="0"/>
                    <a:pt x="664739" y="0"/>
                  </a:cubicBezTo>
                  <a:lnTo>
                    <a:pt x="108427" y="0"/>
                  </a:lnTo>
                  <a:cubicBezTo>
                    <a:pt x="48544" y="0"/>
                    <a:pt x="0" y="48544"/>
                    <a:pt x="0" y="108427"/>
                  </a:cubicBezTo>
                  <a:lnTo>
                    <a:pt x="0" y="664739"/>
                  </a:lnTo>
                  <a:cubicBezTo>
                    <a:pt x="0" y="724621"/>
                    <a:pt x="48544" y="773165"/>
                    <a:pt x="108427" y="773165"/>
                  </a:cubicBezTo>
                  <a:close/>
                </a:path>
              </a:pathLst>
            </a:custGeom>
            <a:solidFill>
              <a:srgbClr val="3164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7" name="Рисунок 4"/>
            <p:cNvGrpSpPr/>
            <p:nvPr/>
          </p:nvGrpSpPr>
          <p:grpSpPr>
            <a:xfrm>
              <a:off x="1747107" y="1637586"/>
              <a:ext cx="448457" cy="496227"/>
              <a:chOff x="1747107" y="1637586"/>
              <a:chExt cx="448457" cy="496227"/>
            </a:xfrm>
            <a:solidFill>
              <a:srgbClr val="FFFFFF"/>
            </a:solidFill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1747107" y="1637586"/>
                <a:ext cx="365590" cy="496227"/>
              </a:xfrm>
              <a:custGeom>
                <a:avLst/>
                <a:gdLst>
                  <a:gd name="connsiteX0" fmla="*/ 165688 w 365590"/>
                  <a:gd name="connsiteY0" fmla="*/ 496228 h 496227"/>
                  <a:gd name="connsiteX1" fmla="*/ 10179 w 365590"/>
                  <a:gd name="connsiteY1" fmla="*/ 496228 h 496227"/>
                  <a:gd name="connsiteX2" fmla="*/ 0 w 365590"/>
                  <a:gd name="connsiteY2" fmla="*/ 486048 h 496227"/>
                  <a:gd name="connsiteX3" fmla="*/ 0 w 365590"/>
                  <a:gd name="connsiteY3" fmla="*/ 10178 h 496227"/>
                  <a:gd name="connsiteX4" fmla="*/ 10179 w 365590"/>
                  <a:gd name="connsiteY4" fmla="*/ 0 h 496227"/>
                  <a:gd name="connsiteX5" fmla="*/ 355412 w 365590"/>
                  <a:gd name="connsiteY5" fmla="*/ 0 h 496227"/>
                  <a:gd name="connsiteX6" fmla="*/ 365590 w 365590"/>
                  <a:gd name="connsiteY6" fmla="*/ 10178 h 496227"/>
                  <a:gd name="connsiteX7" fmla="*/ 365590 w 365590"/>
                  <a:gd name="connsiteY7" fmla="*/ 231016 h 496227"/>
                  <a:gd name="connsiteX8" fmla="*/ 355412 w 365590"/>
                  <a:gd name="connsiteY8" fmla="*/ 241195 h 496227"/>
                  <a:gd name="connsiteX9" fmla="*/ 345233 w 365590"/>
                  <a:gd name="connsiteY9" fmla="*/ 231016 h 496227"/>
                  <a:gd name="connsiteX10" fmla="*/ 345233 w 365590"/>
                  <a:gd name="connsiteY10" fmla="*/ 20358 h 496227"/>
                  <a:gd name="connsiteX11" fmla="*/ 20359 w 365590"/>
                  <a:gd name="connsiteY11" fmla="*/ 20358 h 496227"/>
                  <a:gd name="connsiteX12" fmla="*/ 20359 w 365590"/>
                  <a:gd name="connsiteY12" fmla="*/ 475870 h 496227"/>
                  <a:gd name="connsiteX13" fmla="*/ 165688 w 365590"/>
                  <a:gd name="connsiteY13" fmla="*/ 475870 h 496227"/>
                  <a:gd name="connsiteX14" fmla="*/ 175867 w 365590"/>
                  <a:gd name="connsiteY14" fmla="*/ 486048 h 496227"/>
                  <a:gd name="connsiteX15" fmla="*/ 165688 w 365590"/>
                  <a:gd name="connsiteY15" fmla="*/ 496228 h 49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65590" h="496227">
                    <a:moveTo>
                      <a:pt x="165688" y="496228"/>
                    </a:moveTo>
                    <a:lnTo>
                      <a:pt x="10179" y="496228"/>
                    </a:lnTo>
                    <a:cubicBezTo>
                      <a:pt x="4553" y="496228"/>
                      <a:pt x="0" y="491655"/>
                      <a:pt x="0" y="486048"/>
                    </a:cubicBezTo>
                    <a:lnTo>
                      <a:pt x="0" y="10178"/>
                    </a:lnTo>
                    <a:cubicBezTo>
                      <a:pt x="0" y="4572"/>
                      <a:pt x="4553" y="0"/>
                      <a:pt x="10179" y="0"/>
                    </a:cubicBezTo>
                    <a:lnTo>
                      <a:pt x="355412" y="0"/>
                    </a:lnTo>
                    <a:cubicBezTo>
                      <a:pt x="361038" y="0"/>
                      <a:pt x="365590" y="4572"/>
                      <a:pt x="365590" y="10178"/>
                    </a:cubicBezTo>
                    <a:lnTo>
                      <a:pt x="365590" y="231016"/>
                    </a:lnTo>
                    <a:cubicBezTo>
                      <a:pt x="365590" y="236623"/>
                      <a:pt x="361038" y="241195"/>
                      <a:pt x="355412" y="241195"/>
                    </a:cubicBezTo>
                    <a:cubicBezTo>
                      <a:pt x="349786" y="241195"/>
                      <a:pt x="345233" y="236623"/>
                      <a:pt x="345233" y="231016"/>
                    </a:cubicBezTo>
                    <a:lnTo>
                      <a:pt x="345233" y="20358"/>
                    </a:lnTo>
                    <a:lnTo>
                      <a:pt x="20359" y="20358"/>
                    </a:lnTo>
                    <a:lnTo>
                      <a:pt x="20359" y="475870"/>
                    </a:lnTo>
                    <a:lnTo>
                      <a:pt x="165688" y="475870"/>
                    </a:lnTo>
                    <a:cubicBezTo>
                      <a:pt x="171314" y="475870"/>
                      <a:pt x="175867" y="480442"/>
                      <a:pt x="175867" y="486048"/>
                    </a:cubicBezTo>
                    <a:cubicBezTo>
                      <a:pt x="175867" y="491655"/>
                      <a:pt x="171314" y="496228"/>
                      <a:pt x="165688" y="4962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1790647" y="1712258"/>
                <a:ext cx="262964" cy="20358"/>
              </a:xfrm>
              <a:custGeom>
                <a:avLst/>
                <a:gdLst>
                  <a:gd name="connsiteX0" fmla="*/ 252786 w 262964"/>
                  <a:gd name="connsiteY0" fmla="*/ 20359 h 20358"/>
                  <a:gd name="connsiteX1" fmla="*/ 10178 w 262964"/>
                  <a:gd name="connsiteY1" fmla="*/ 20359 h 20358"/>
                  <a:gd name="connsiteX2" fmla="*/ 0 w 262964"/>
                  <a:gd name="connsiteY2" fmla="*/ 10179 h 20358"/>
                  <a:gd name="connsiteX3" fmla="*/ 10178 w 262964"/>
                  <a:gd name="connsiteY3" fmla="*/ 0 h 20358"/>
                  <a:gd name="connsiteX4" fmla="*/ 252786 w 262964"/>
                  <a:gd name="connsiteY4" fmla="*/ 0 h 20358"/>
                  <a:gd name="connsiteX5" fmla="*/ 262964 w 262964"/>
                  <a:gd name="connsiteY5" fmla="*/ 10179 h 20358"/>
                  <a:gd name="connsiteX6" fmla="*/ 252786 w 262964"/>
                  <a:gd name="connsiteY6" fmla="*/ 20359 h 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2964" h="20358">
                    <a:moveTo>
                      <a:pt x="252786" y="20359"/>
                    </a:moveTo>
                    <a:lnTo>
                      <a:pt x="10178" y="20359"/>
                    </a:lnTo>
                    <a:cubicBezTo>
                      <a:pt x="4553" y="20359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252786" y="0"/>
                    </a:lnTo>
                    <a:cubicBezTo>
                      <a:pt x="258412" y="0"/>
                      <a:pt x="262964" y="4573"/>
                      <a:pt x="262964" y="10179"/>
                    </a:cubicBezTo>
                    <a:cubicBezTo>
                      <a:pt x="262964" y="15786"/>
                      <a:pt x="258412" y="20359"/>
                      <a:pt x="252786" y="20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9"/>
              <p:cNvSpPr/>
              <p:nvPr/>
            </p:nvSpPr>
            <p:spPr>
              <a:xfrm>
                <a:off x="1790647" y="1777547"/>
                <a:ext cx="132327" cy="20358"/>
              </a:xfrm>
              <a:custGeom>
                <a:avLst/>
                <a:gdLst>
                  <a:gd name="connsiteX0" fmla="*/ 122149 w 132327"/>
                  <a:gd name="connsiteY0" fmla="*/ 20359 h 20358"/>
                  <a:gd name="connsiteX1" fmla="*/ 10178 w 132327"/>
                  <a:gd name="connsiteY1" fmla="*/ 20359 h 20358"/>
                  <a:gd name="connsiteX2" fmla="*/ 0 w 132327"/>
                  <a:gd name="connsiteY2" fmla="*/ 10179 h 20358"/>
                  <a:gd name="connsiteX3" fmla="*/ 10178 w 132327"/>
                  <a:gd name="connsiteY3" fmla="*/ 0 h 20358"/>
                  <a:gd name="connsiteX4" fmla="*/ 122149 w 132327"/>
                  <a:gd name="connsiteY4" fmla="*/ 0 h 20358"/>
                  <a:gd name="connsiteX5" fmla="*/ 132327 w 132327"/>
                  <a:gd name="connsiteY5" fmla="*/ 10179 h 20358"/>
                  <a:gd name="connsiteX6" fmla="*/ 122149 w 132327"/>
                  <a:gd name="connsiteY6" fmla="*/ 20359 h 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2327" h="20358">
                    <a:moveTo>
                      <a:pt x="122149" y="20359"/>
                    </a:moveTo>
                    <a:lnTo>
                      <a:pt x="10178" y="20359"/>
                    </a:lnTo>
                    <a:cubicBezTo>
                      <a:pt x="4553" y="20359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122149" y="0"/>
                    </a:lnTo>
                    <a:cubicBezTo>
                      <a:pt x="127774" y="0"/>
                      <a:pt x="132327" y="4573"/>
                      <a:pt x="132327" y="10179"/>
                    </a:cubicBezTo>
                    <a:cubicBezTo>
                      <a:pt x="132327" y="15786"/>
                      <a:pt x="127774" y="20359"/>
                      <a:pt x="122149" y="20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1790647" y="1845978"/>
                <a:ext cx="138549" cy="20357"/>
              </a:xfrm>
              <a:custGeom>
                <a:avLst/>
                <a:gdLst>
                  <a:gd name="connsiteX0" fmla="*/ 128371 w 138549"/>
                  <a:gd name="connsiteY0" fmla="*/ 20358 h 20357"/>
                  <a:gd name="connsiteX1" fmla="*/ 10178 w 138549"/>
                  <a:gd name="connsiteY1" fmla="*/ 20358 h 20357"/>
                  <a:gd name="connsiteX2" fmla="*/ 0 w 138549"/>
                  <a:gd name="connsiteY2" fmla="*/ 10179 h 20357"/>
                  <a:gd name="connsiteX3" fmla="*/ 10178 w 138549"/>
                  <a:gd name="connsiteY3" fmla="*/ 0 h 20357"/>
                  <a:gd name="connsiteX4" fmla="*/ 128371 w 138549"/>
                  <a:gd name="connsiteY4" fmla="*/ 0 h 20357"/>
                  <a:gd name="connsiteX5" fmla="*/ 138550 w 138549"/>
                  <a:gd name="connsiteY5" fmla="*/ 10179 h 20357"/>
                  <a:gd name="connsiteX6" fmla="*/ 128371 w 138549"/>
                  <a:gd name="connsiteY6" fmla="*/ 20358 h 20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549" h="20357">
                    <a:moveTo>
                      <a:pt x="128371" y="20358"/>
                    </a:moveTo>
                    <a:lnTo>
                      <a:pt x="10178" y="20358"/>
                    </a:lnTo>
                    <a:cubicBezTo>
                      <a:pt x="4553" y="20358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128371" y="0"/>
                    </a:lnTo>
                    <a:cubicBezTo>
                      <a:pt x="133997" y="0"/>
                      <a:pt x="138550" y="4573"/>
                      <a:pt x="138550" y="10179"/>
                    </a:cubicBezTo>
                    <a:cubicBezTo>
                      <a:pt x="138550" y="15786"/>
                      <a:pt x="133997" y="20358"/>
                      <a:pt x="128371" y="203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Полилиния: фигура 31"/>
              <p:cNvSpPr/>
              <p:nvPr/>
            </p:nvSpPr>
            <p:spPr>
              <a:xfrm>
                <a:off x="1869060" y="1749952"/>
                <a:ext cx="326504" cy="383225"/>
              </a:xfrm>
              <a:custGeom>
                <a:avLst/>
                <a:gdLst>
                  <a:gd name="connsiteX0" fmla="*/ 198170 w 326504"/>
                  <a:gd name="connsiteY0" fmla="*/ 383225 h 383225"/>
                  <a:gd name="connsiteX1" fmla="*/ 126161 w 326504"/>
                  <a:gd name="connsiteY1" fmla="*/ 371972 h 383225"/>
                  <a:gd name="connsiteX2" fmla="*/ 41966 w 326504"/>
                  <a:gd name="connsiteY2" fmla="*/ 265410 h 383225"/>
                  <a:gd name="connsiteX3" fmla="*/ 7810 w 326504"/>
                  <a:gd name="connsiteY3" fmla="*/ 215430 h 383225"/>
                  <a:gd name="connsiteX4" fmla="*/ 633 w 326504"/>
                  <a:gd name="connsiteY4" fmla="*/ 198213 h 383225"/>
                  <a:gd name="connsiteX5" fmla="*/ 51310 w 326504"/>
                  <a:gd name="connsiteY5" fmla="*/ 182865 h 383225"/>
                  <a:gd name="connsiteX6" fmla="*/ 107771 w 326504"/>
                  <a:gd name="connsiteY6" fmla="*/ 219326 h 383225"/>
                  <a:gd name="connsiteX7" fmla="*/ 106957 w 326504"/>
                  <a:gd name="connsiteY7" fmla="*/ 49543 h 383225"/>
                  <a:gd name="connsiteX8" fmla="*/ 139083 w 326504"/>
                  <a:gd name="connsiteY8" fmla="*/ 0 h 383225"/>
                  <a:gd name="connsiteX9" fmla="*/ 139681 w 326504"/>
                  <a:gd name="connsiteY9" fmla="*/ 0 h 383225"/>
                  <a:gd name="connsiteX10" fmla="*/ 185386 w 326504"/>
                  <a:gd name="connsiteY10" fmla="*/ 36264 h 383225"/>
                  <a:gd name="connsiteX11" fmla="*/ 188230 w 326504"/>
                  <a:gd name="connsiteY11" fmla="*/ 164297 h 383225"/>
                  <a:gd name="connsiteX12" fmla="*/ 211211 w 326504"/>
                  <a:gd name="connsiteY12" fmla="*/ 164813 h 383225"/>
                  <a:gd name="connsiteX13" fmla="*/ 233081 w 326504"/>
                  <a:gd name="connsiteY13" fmla="*/ 180122 h 383225"/>
                  <a:gd name="connsiteX14" fmla="*/ 250397 w 326504"/>
                  <a:gd name="connsiteY14" fmla="*/ 177856 h 383225"/>
                  <a:gd name="connsiteX15" fmla="*/ 284413 w 326504"/>
                  <a:gd name="connsiteY15" fmla="*/ 193720 h 383225"/>
                  <a:gd name="connsiteX16" fmla="*/ 308548 w 326504"/>
                  <a:gd name="connsiteY16" fmla="*/ 198890 h 383225"/>
                  <a:gd name="connsiteX17" fmla="*/ 325647 w 326504"/>
                  <a:gd name="connsiteY17" fmla="*/ 232090 h 383225"/>
                  <a:gd name="connsiteX18" fmla="*/ 319265 w 326504"/>
                  <a:gd name="connsiteY18" fmla="*/ 256703 h 383225"/>
                  <a:gd name="connsiteX19" fmla="*/ 289781 w 326504"/>
                  <a:gd name="connsiteY19" fmla="*/ 358334 h 383225"/>
                  <a:gd name="connsiteX20" fmla="*/ 211152 w 326504"/>
                  <a:gd name="connsiteY20" fmla="*/ 382589 h 383225"/>
                  <a:gd name="connsiteX21" fmla="*/ 211152 w 326504"/>
                  <a:gd name="connsiteY21" fmla="*/ 382589 h 383225"/>
                  <a:gd name="connsiteX22" fmla="*/ 198170 w 326504"/>
                  <a:gd name="connsiteY22" fmla="*/ 383225 h 383225"/>
                  <a:gd name="connsiteX23" fmla="*/ 25862 w 326504"/>
                  <a:gd name="connsiteY23" fmla="*/ 205171 h 383225"/>
                  <a:gd name="connsiteX24" fmla="*/ 59103 w 326504"/>
                  <a:gd name="connsiteY24" fmla="*/ 254397 h 383225"/>
                  <a:gd name="connsiteX25" fmla="*/ 131390 w 326504"/>
                  <a:gd name="connsiteY25" fmla="*/ 352291 h 383225"/>
                  <a:gd name="connsiteX26" fmla="*/ 209005 w 326504"/>
                  <a:gd name="connsiteY26" fmla="*/ 362310 h 383225"/>
                  <a:gd name="connsiteX27" fmla="*/ 209045 w 326504"/>
                  <a:gd name="connsiteY27" fmla="*/ 362310 h 383225"/>
                  <a:gd name="connsiteX28" fmla="*/ 272564 w 326504"/>
                  <a:gd name="connsiteY28" fmla="*/ 347519 h 383225"/>
                  <a:gd name="connsiteX29" fmla="*/ 299543 w 326504"/>
                  <a:gd name="connsiteY29" fmla="*/ 251692 h 383225"/>
                  <a:gd name="connsiteX30" fmla="*/ 306143 w 326504"/>
                  <a:gd name="connsiteY30" fmla="*/ 226245 h 383225"/>
                  <a:gd name="connsiteX31" fmla="*/ 295527 w 326504"/>
                  <a:gd name="connsiteY31" fmla="*/ 214914 h 383225"/>
                  <a:gd name="connsiteX32" fmla="*/ 286600 w 326504"/>
                  <a:gd name="connsiteY32" fmla="*/ 214754 h 383225"/>
                  <a:gd name="connsiteX33" fmla="*/ 276003 w 326504"/>
                  <a:gd name="connsiteY33" fmla="*/ 216702 h 383225"/>
                  <a:gd name="connsiteX34" fmla="*/ 269602 w 326504"/>
                  <a:gd name="connsiteY34" fmla="*/ 207995 h 383225"/>
                  <a:gd name="connsiteX35" fmla="*/ 247137 w 326504"/>
                  <a:gd name="connsiteY35" fmla="*/ 198054 h 383225"/>
                  <a:gd name="connsiteX36" fmla="*/ 238031 w 326504"/>
                  <a:gd name="connsiteY36" fmla="*/ 201832 h 383225"/>
                  <a:gd name="connsiteX37" fmla="*/ 226957 w 326504"/>
                  <a:gd name="connsiteY37" fmla="*/ 209585 h 383225"/>
                  <a:gd name="connsiteX38" fmla="*/ 217951 w 326504"/>
                  <a:gd name="connsiteY38" fmla="*/ 199486 h 383225"/>
                  <a:gd name="connsiteX39" fmla="*/ 208766 w 326504"/>
                  <a:gd name="connsiteY39" fmla="*/ 185370 h 383225"/>
                  <a:gd name="connsiteX40" fmla="*/ 186460 w 326504"/>
                  <a:gd name="connsiteY40" fmla="*/ 186682 h 383225"/>
                  <a:gd name="connsiteX41" fmla="*/ 175029 w 326504"/>
                  <a:gd name="connsiteY41" fmla="*/ 191414 h 383225"/>
                  <a:gd name="connsiteX42" fmla="*/ 167613 w 326504"/>
                  <a:gd name="connsiteY42" fmla="*/ 181235 h 383225"/>
                  <a:gd name="connsiteX43" fmla="*/ 165128 w 326504"/>
                  <a:gd name="connsiteY43" fmla="*/ 38530 h 383225"/>
                  <a:gd name="connsiteX44" fmla="*/ 138487 w 326504"/>
                  <a:gd name="connsiteY44" fmla="*/ 20438 h 383225"/>
                  <a:gd name="connsiteX45" fmla="*/ 127314 w 326504"/>
                  <a:gd name="connsiteY45" fmla="*/ 49941 h 383225"/>
                  <a:gd name="connsiteX46" fmla="*/ 128607 w 326504"/>
                  <a:gd name="connsiteY46" fmla="*/ 245729 h 383225"/>
                  <a:gd name="connsiteX47" fmla="*/ 122046 w 326504"/>
                  <a:gd name="connsiteY47" fmla="*/ 255430 h 383225"/>
                  <a:gd name="connsiteX48" fmla="*/ 110694 w 326504"/>
                  <a:gd name="connsiteY48" fmla="*/ 252528 h 383225"/>
                  <a:gd name="connsiteX49" fmla="*/ 51310 w 326504"/>
                  <a:gd name="connsiteY49" fmla="*/ 203224 h 383225"/>
                  <a:gd name="connsiteX50" fmla="*/ 25862 w 326504"/>
                  <a:gd name="connsiteY50" fmla="*/ 205171 h 38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26504" h="383225">
                    <a:moveTo>
                      <a:pt x="198170" y="383225"/>
                    </a:moveTo>
                    <a:cubicBezTo>
                      <a:pt x="178806" y="383225"/>
                      <a:pt x="154670" y="379447"/>
                      <a:pt x="126161" y="371972"/>
                    </a:cubicBezTo>
                    <a:cubicBezTo>
                      <a:pt x="109859" y="367678"/>
                      <a:pt x="86996" y="335631"/>
                      <a:pt x="41966" y="265410"/>
                    </a:cubicBezTo>
                    <a:cubicBezTo>
                      <a:pt x="28725" y="244734"/>
                      <a:pt x="12244" y="219048"/>
                      <a:pt x="7810" y="215430"/>
                    </a:cubicBezTo>
                    <a:cubicBezTo>
                      <a:pt x="-1494" y="208631"/>
                      <a:pt x="-322" y="201116"/>
                      <a:pt x="633" y="198213"/>
                    </a:cubicBezTo>
                    <a:cubicBezTo>
                      <a:pt x="2004" y="194039"/>
                      <a:pt x="5623" y="182865"/>
                      <a:pt x="51310" y="182865"/>
                    </a:cubicBezTo>
                    <a:cubicBezTo>
                      <a:pt x="67970" y="182865"/>
                      <a:pt x="91032" y="202468"/>
                      <a:pt x="107771" y="219326"/>
                    </a:cubicBezTo>
                    <a:cubicBezTo>
                      <a:pt x="107096" y="178452"/>
                      <a:pt x="106042" y="100001"/>
                      <a:pt x="106957" y="49543"/>
                    </a:cubicBezTo>
                    <a:cubicBezTo>
                      <a:pt x="107732" y="6998"/>
                      <a:pt x="127413" y="239"/>
                      <a:pt x="139083" y="0"/>
                    </a:cubicBezTo>
                    <a:cubicBezTo>
                      <a:pt x="139282" y="0"/>
                      <a:pt x="139482" y="0"/>
                      <a:pt x="139681" y="0"/>
                    </a:cubicBezTo>
                    <a:cubicBezTo>
                      <a:pt x="160456" y="0"/>
                      <a:pt x="184532" y="21432"/>
                      <a:pt x="185386" y="36264"/>
                    </a:cubicBezTo>
                    <a:cubicBezTo>
                      <a:pt x="187772" y="78371"/>
                      <a:pt x="189045" y="100717"/>
                      <a:pt x="188230" y="164297"/>
                    </a:cubicBezTo>
                    <a:cubicBezTo>
                      <a:pt x="195745" y="162785"/>
                      <a:pt x="204094" y="162944"/>
                      <a:pt x="211211" y="164813"/>
                    </a:cubicBezTo>
                    <a:cubicBezTo>
                      <a:pt x="220994" y="167358"/>
                      <a:pt x="228488" y="172725"/>
                      <a:pt x="233081" y="180122"/>
                    </a:cubicBezTo>
                    <a:cubicBezTo>
                      <a:pt x="237991" y="178174"/>
                      <a:pt x="243857" y="177219"/>
                      <a:pt x="250397" y="177856"/>
                    </a:cubicBezTo>
                    <a:cubicBezTo>
                      <a:pt x="263121" y="178849"/>
                      <a:pt x="276938" y="184774"/>
                      <a:pt x="284413" y="193720"/>
                    </a:cubicBezTo>
                    <a:cubicBezTo>
                      <a:pt x="291968" y="192050"/>
                      <a:pt x="300437" y="193759"/>
                      <a:pt x="308548" y="198890"/>
                    </a:cubicBezTo>
                    <a:cubicBezTo>
                      <a:pt x="319523" y="205808"/>
                      <a:pt x="329543" y="219167"/>
                      <a:pt x="325647" y="232090"/>
                    </a:cubicBezTo>
                    <a:cubicBezTo>
                      <a:pt x="324652" y="235430"/>
                      <a:pt x="322306" y="244694"/>
                      <a:pt x="319265" y="256703"/>
                    </a:cubicBezTo>
                    <a:cubicBezTo>
                      <a:pt x="304334" y="315630"/>
                      <a:pt x="295229" y="349268"/>
                      <a:pt x="289781" y="358334"/>
                    </a:cubicBezTo>
                    <a:cubicBezTo>
                      <a:pt x="280775" y="373325"/>
                      <a:pt x="236659" y="379965"/>
                      <a:pt x="211152" y="382589"/>
                    </a:cubicBezTo>
                    <a:lnTo>
                      <a:pt x="211152" y="382589"/>
                    </a:lnTo>
                    <a:cubicBezTo>
                      <a:pt x="207097" y="382987"/>
                      <a:pt x="202763" y="383225"/>
                      <a:pt x="198170" y="383225"/>
                    </a:cubicBezTo>
                    <a:close/>
                    <a:moveTo>
                      <a:pt x="25862" y="205171"/>
                    </a:moveTo>
                    <a:cubicBezTo>
                      <a:pt x="32562" y="213283"/>
                      <a:pt x="42204" y="228074"/>
                      <a:pt x="59103" y="254397"/>
                    </a:cubicBezTo>
                    <a:cubicBezTo>
                      <a:pt x="80097" y="287161"/>
                      <a:pt x="119203" y="348115"/>
                      <a:pt x="131390" y="352291"/>
                    </a:cubicBezTo>
                    <a:cubicBezTo>
                      <a:pt x="163776" y="360759"/>
                      <a:pt x="190655" y="364338"/>
                      <a:pt x="209005" y="362310"/>
                    </a:cubicBezTo>
                    <a:cubicBezTo>
                      <a:pt x="209025" y="362310"/>
                      <a:pt x="209025" y="362310"/>
                      <a:pt x="209045" y="362310"/>
                    </a:cubicBezTo>
                    <a:cubicBezTo>
                      <a:pt x="238389" y="359328"/>
                      <a:pt x="268071" y="352370"/>
                      <a:pt x="272564" y="347519"/>
                    </a:cubicBezTo>
                    <a:cubicBezTo>
                      <a:pt x="277256" y="339646"/>
                      <a:pt x="292863" y="278015"/>
                      <a:pt x="299543" y="251692"/>
                    </a:cubicBezTo>
                    <a:cubicBezTo>
                      <a:pt x="302684" y="239287"/>
                      <a:pt x="305110" y="229705"/>
                      <a:pt x="306143" y="226245"/>
                    </a:cubicBezTo>
                    <a:cubicBezTo>
                      <a:pt x="306242" y="224496"/>
                      <a:pt x="302366" y="218213"/>
                      <a:pt x="295527" y="214914"/>
                    </a:cubicBezTo>
                    <a:cubicBezTo>
                      <a:pt x="292823" y="213641"/>
                      <a:pt x="289065" y="212568"/>
                      <a:pt x="286600" y="214754"/>
                    </a:cubicBezTo>
                    <a:cubicBezTo>
                      <a:pt x="283738" y="217419"/>
                      <a:pt x="279602" y="218134"/>
                      <a:pt x="276003" y="216702"/>
                    </a:cubicBezTo>
                    <a:cubicBezTo>
                      <a:pt x="272386" y="215271"/>
                      <a:pt x="269901" y="211891"/>
                      <a:pt x="269602" y="207995"/>
                    </a:cubicBezTo>
                    <a:cubicBezTo>
                      <a:pt x="269065" y="205251"/>
                      <a:pt x="258827" y="198292"/>
                      <a:pt x="247137" y="198054"/>
                    </a:cubicBezTo>
                    <a:cubicBezTo>
                      <a:pt x="243140" y="197656"/>
                      <a:pt x="238786" y="198571"/>
                      <a:pt x="238031" y="201832"/>
                    </a:cubicBezTo>
                    <a:cubicBezTo>
                      <a:pt x="236859" y="206841"/>
                      <a:pt x="232226" y="210222"/>
                      <a:pt x="226957" y="209585"/>
                    </a:cubicBezTo>
                    <a:cubicBezTo>
                      <a:pt x="221828" y="208989"/>
                      <a:pt x="217951" y="204654"/>
                      <a:pt x="217951" y="199486"/>
                    </a:cubicBezTo>
                    <a:cubicBezTo>
                      <a:pt x="217951" y="192329"/>
                      <a:pt x="215029" y="187875"/>
                      <a:pt x="208766" y="185370"/>
                    </a:cubicBezTo>
                    <a:cubicBezTo>
                      <a:pt x="199541" y="181752"/>
                      <a:pt x="188448" y="184535"/>
                      <a:pt x="186460" y="186682"/>
                    </a:cubicBezTo>
                    <a:cubicBezTo>
                      <a:pt x="184174" y="190778"/>
                      <a:pt x="179581" y="192527"/>
                      <a:pt x="175029" y="191414"/>
                    </a:cubicBezTo>
                    <a:cubicBezTo>
                      <a:pt x="170535" y="190181"/>
                      <a:pt x="167534" y="185887"/>
                      <a:pt x="167613" y="181235"/>
                    </a:cubicBezTo>
                    <a:cubicBezTo>
                      <a:pt x="168885" y="104812"/>
                      <a:pt x="167633" y="82666"/>
                      <a:pt x="165128" y="38530"/>
                    </a:cubicBezTo>
                    <a:cubicBezTo>
                      <a:pt x="163776" y="32883"/>
                      <a:pt x="148587" y="20001"/>
                      <a:pt x="138487" y="20438"/>
                    </a:cubicBezTo>
                    <a:cubicBezTo>
                      <a:pt x="128865" y="21591"/>
                      <a:pt x="127473" y="41432"/>
                      <a:pt x="127314" y="49941"/>
                    </a:cubicBezTo>
                    <a:cubicBezTo>
                      <a:pt x="126042" y="119922"/>
                      <a:pt x="128587" y="244456"/>
                      <a:pt x="128607" y="245729"/>
                    </a:cubicBezTo>
                    <a:cubicBezTo>
                      <a:pt x="128686" y="250023"/>
                      <a:pt x="126062" y="253919"/>
                      <a:pt x="122046" y="255430"/>
                    </a:cubicBezTo>
                    <a:cubicBezTo>
                      <a:pt x="118049" y="257021"/>
                      <a:pt x="113477" y="255788"/>
                      <a:pt x="110694" y="252528"/>
                    </a:cubicBezTo>
                    <a:cubicBezTo>
                      <a:pt x="90335" y="228711"/>
                      <a:pt x="61608" y="203224"/>
                      <a:pt x="51310" y="203224"/>
                    </a:cubicBezTo>
                    <a:cubicBezTo>
                      <a:pt x="40773" y="203224"/>
                      <a:pt x="31886" y="204098"/>
                      <a:pt x="25862" y="2051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Рисунок 4"/>
          <p:cNvGrpSpPr/>
          <p:nvPr/>
        </p:nvGrpSpPr>
        <p:grpSpPr>
          <a:xfrm>
            <a:off x="1493879" y="4252375"/>
            <a:ext cx="773165" cy="773165"/>
            <a:chOff x="1558925" y="1531383"/>
            <a:chExt cx="773165" cy="773165"/>
          </a:xfrm>
        </p:grpSpPr>
        <p:sp>
          <p:nvSpPr>
            <p:cNvPr id="17" name="Полилиния: фигура 147"/>
            <p:cNvSpPr/>
            <p:nvPr/>
          </p:nvSpPr>
          <p:spPr>
            <a:xfrm>
              <a:off x="1558925" y="1531383"/>
              <a:ext cx="773165" cy="773165"/>
            </a:xfrm>
            <a:custGeom>
              <a:avLst/>
              <a:gdLst>
                <a:gd name="connsiteX0" fmla="*/ 108427 w 773165"/>
                <a:gd name="connsiteY0" fmla="*/ 773165 h 773165"/>
                <a:gd name="connsiteX1" fmla="*/ 664739 w 773165"/>
                <a:gd name="connsiteY1" fmla="*/ 773165 h 773165"/>
                <a:gd name="connsiteX2" fmla="*/ 773165 w 773165"/>
                <a:gd name="connsiteY2" fmla="*/ 664739 h 773165"/>
                <a:gd name="connsiteX3" fmla="*/ 773165 w 773165"/>
                <a:gd name="connsiteY3" fmla="*/ 108427 h 773165"/>
                <a:gd name="connsiteX4" fmla="*/ 664739 w 773165"/>
                <a:gd name="connsiteY4" fmla="*/ 0 h 773165"/>
                <a:gd name="connsiteX5" fmla="*/ 108427 w 773165"/>
                <a:gd name="connsiteY5" fmla="*/ 0 h 773165"/>
                <a:gd name="connsiteX6" fmla="*/ 0 w 773165"/>
                <a:gd name="connsiteY6" fmla="*/ 108427 h 773165"/>
                <a:gd name="connsiteX7" fmla="*/ 0 w 773165"/>
                <a:gd name="connsiteY7" fmla="*/ 664739 h 773165"/>
                <a:gd name="connsiteX8" fmla="*/ 108427 w 773165"/>
                <a:gd name="connsiteY8" fmla="*/ 773165 h 77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3165" h="773165">
                  <a:moveTo>
                    <a:pt x="108427" y="773165"/>
                  </a:moveTo>
                  <a:lnTo>
                    <a:pt x="664739" y="773165"/>
                  </a:lnTo>
                  <a:cubicBezTo>
                    <a:pt x="724621" y="773165"/>
                    <a:pt x="773165" y="724621"/>
                    <a:pt x="773165" y="664739"/>
                  </a:cubicBezTo>
                  <a:lnTo>
                    <a:pt x="773165" y="108427"/>
                  </a:lnTo>
                  <a:cubicBezTo>
                    <a:pt x="773165" y="48544"/>
                    <a:pt x="724621" y="0"/>
                    <a:pt x="664739" y="0"/>
                  </a:cubicBezTo>
                  <a:lnTo>
                    <a:pt x="108427" y="0"/>
                  </a:lnTo>
                  <a:cubicBezTo>
                    <a:pt x="48544" y="0"/>
                    <a:pt x="0" y="48544"/>
                    <a:pt x="0" y="108427"/>
                  </a:cubicBezTo>
                  <a:lnTo>
                    <a:pt x="0" y="664739"/>
                  </a:lnTo>
                  <a:cubicBezTo>
                    <a:pt x="0" y="724621"/>
                    <a:pt x="48544" y="773165"/>
                    <a:pt x="108427" y="773165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8" name="Рисунок 4"/>
            <p:cNvGrpSpPr/>
            <p:nvPr/>
          </p:nvGrpSpPr>
          <p:grpSpPr>
            <a:xfrm>
              <a:off x="1747107" y="1637586"/>
              <a:ext cx="448457" cy="496227"/>
              <a:chOff x="1747107" y="1637586"/>
              <a:chExt cx="448457" cy="496227"/>
            </a:xfrm>
            <a:solidFill>
              <a:srgbClr val="FFFFFF"/>
            </a:solidFill>
          </p:grpSpPr>
          <p:sp>
            <p:nvSpPr>
              <p:cNvPr id="19" name="Полилиния: фигура 149"/>
              <p:cNvSpPr/>
              <p:nvPr/>
            </p:nvSpPr>
            <p:spPr>
              <a:xfrm>
                <a:off x="1747107" y="1637586"/>
                <a:ext cx="365590" cy="496227"/>
              </a:xfrm>
              <a:custGeom>
                <a:avLst/>
                <a:gdLst>
                  <a:gd name="connsiteX0" fmla="*/ 165688 w 365590"/>
                  <a:gd name="connsiteY0" fmla="*/ 496228 h 496227"/>
                  <a:gd name="connsiteX1" fmla="*/ 10179 w 365590"/>
                  <a:gd name="connsiteY1" fmla="*/ 496228 h 496227"/>
                  <a:gd name="connsiteX2" fmla="*/ 0 w 365590"/>
                  <a:gd name="connsiteY2" fmla="*/ 486048 h 496227"/>
                  <a:gd name="connsiteX3" fmla="*/ 0 w 365590"/>
                  <a:gd name="connsiteY3" fmla="*/ 10178 h 496227"/>
                  <a:gd name="connsiteX4" fmla="*/ 10179 w 365590"/>
                  <a:gd name="connsiteY4" fmla="*/ 0 h 496227"/>
                  <a:gd name="connsiteX5" fmla="*/ 355412 w 365590"/>
                  <a:gd name="connsiteY5" fmla="*/ 0 h 496227"/>
                  <a:gd name="connsiteX6" fmla="*/ 365590 w 365590"/>
                  <a:gd name="connsiteY6" fmla="*/ 10178 h 496227"/>
                  <a:gd name="connsiteX7" fmla="*/ 365590 w 365590"/>
                  <a:gd name="connsiteY7" fmla="*/ 231016 h 496227"/>
                  <a:gd name="connsiteX8" fmla="*/ 355412 w 365590"/>
                  <a:gd name="connsiteY8" fmla="*/ 241195 h 496227"/>
                  <a:gd name="connsiteX9" fmla="*/ 345233 w 365590"/>
                  <a:gd name="connsiteY9" fmla="*/ 231016 h 496227"/>
                  <a:gd name="connsiteX10" fmla="*/ 345233 w 365590"/>
                  <a:gd name="connsiteY10" fmla="*/ 20358 h 496227"/>
                  <a:gd name="connsiteX11" fmla="*/ 20359 w 365590"/>
                  <a:gd name="connsiteY11" fmla="*/ 20358 h 496227"/>
                  <a:gd name="connsiteX12" fmla="*/ 20359 w 365590"/>
                  <a:gd name="connsiteY12" fmla="*/ 475870 h 496227"/>
                  <a:gd name="connsiteX13" fmla="*/ 165688 w 365590"/>
                  <a:gd name="connsiteY13" fmla="*/ 475870 h 496227"/>
                  <a:gd name="connsiteX14" fmla="*/ 175867 w 365590"/>
                  <a:gd name="connsiteY14" fmla="*/ 486048 h 496227"/>
                  <a:gd name="connsiteX15" fmla="*/ 165688 w 365590"/>
                  <a:gd name="connsiteY15" fmla="*/ 496228 h 49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65590" h="496227">
                    <a:moveTo>
                      <a:pt x="165688" y="496228"/>
                    </a:moveTo>
                    <a:lnTo>
                      <a:pt x="10179" y="496228"/>
                    </a:lnTo>
                    <a:cubicBezTo>
                      <a:pt x="4553" y="496228"/>
                      <a:pt x="0" y="491655"/>
                      <a:pt x="0" y="486048"/>
                    </a:cubicBezTo>
                    <a:lnTo>
                      <a:pt x="0" y="10178"/>
                    </a:lnTo>
                    <a:cubicBezTo>
                      <a:pt x="0" y="4572"/>
                      <a:pt x="4553" y="0"/>
                      <a:pt x="10179" y="0"/>
                    </a:cubicBezTo>
                    <a:lnTo>
                      <a:pt x="355412" y="0"/>
                    </a:lnTo>
                    <a:cubicBezTo>
                      <a:pt x="361038" y="0"/>
                      <a:pt x="365590" y="4572"/>
                      <a:pt x="365590" y="10178"/>
                    </a:cubicBezTo>
                    <a:lnTo>
                      <a:pt x="365590" y="231016"/>
                    </a:lnTo>
                    <a:cubicBezTo>
                      <a:pt x="365590" y="236623"/>
                      <a:pt x="361038" y="241195"/>
                      <a:pt x="355412" y="241195"/>
                    </a:cubicBezTo>
                    <a:cubicBezTo>
                      <a:pt x="349786" y="241195"/>
                      <a:pt x="345233" y="236623"/>
                      <a:pt x="345233" y="231016"/>
                    </a:cubicBezTo>
                    <a:lnTo>
                      <a:pt x="345233" y="20358"/>
                    </a:lnTo>
                    <a:lnTo>
                      <a:pt x="20359" y="20358"/>
                    </a:lnTo>
                    <a:lnTo>
                      <a:pt x="20359" y="475870"/>
                    </a:lnTo>
                    <a:lnTo>
                      <a:pt x="165688" y="475870"/>
                    </a:lnTo>
                    <a:cubicBezTo>
                      <a:pt x="171314" y="475870"/>
                      <a:pt x="175867" y="480442"/>
                      <a:pt x="175867" y="486048"/>
                    </a:cubicBezTo>
                    <a:cubicBezTo>
                      <a:pt x="175867" y="491655"/>
                      <a:pt x="171314" y="496228"/>
                      <a:pt x="165688" y="4962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50"/>
              <p:cNvSpPr/>
              <p:nvPr/>
            </p:nvSpPr>
            <p:spPr>
              <a:xfrm>
                <a:off x="1790647" y="1712258"/>
                <a:ext cx="262964" cy="20358"/>
              </a:xfrm>
              <a:custGeom>
                <a:avLst/>
                <a:gdLst>
                  <a:gd name="connsiteX0" fmla="*/ 252786 w 262964"/>
                  <a:gd name="connsiteY0" fmla="*/ 20359 h 20358"/>
                  <a:gd name="connsiteX1" fmla="*/ 10178 w 262964"/>
                  <a:gd name="connsiteY1" fmla="*/ 20359 h 20358"/>
                  <a:gd name="connsiteX2" fmla="*/ 0 w 262964"/>
                  <a:gd name="connsiteY2" fmla="*/ 10179 h 20358"/>
                  <a:gd name="connsiteX3" fmla="*/ 10178 w 262964"/>
                  <a:gd name="connsiteY3" fmla="*/ 0 h 20358"/>
                  <a:gd name="connsiteX4" fmla="*/ 252786 w 262964"/>
                  <a:gd name="connsiteY4" fmla="*/ 0 h 20358"/>
                  <a:gd name="connsiteX5" fmla="*/ 262964 w 262964"/>
                  <a:gd name="connsiteY5" fmla="*/ 10179 h 20358"/>
                  <a:gd name="connsiteX6" fmla="*/ 252786 w 262964"/>
                  <a:gd name="connsiteY6" fmla="*/ 20359 h 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2964" h="20358">
                    <a:moveTo>
                      <a:pt x="252786" y="20359"/>
                    </a:moveTo>
                    <a:lnTo>
                      <a:pt x="10178" y="20359"/>
                    </a:lnTo>
                    <a:cubicBezTo>
                      <a:pt x="4553" y="20359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252786" y="0"/>
                    </a:lnTo>
                    <a:cubicBezTo>
                      <a:pt x="258412" y="0"/>
                      <a:pt x="262964" y="4573"/>
                      <a:pt x="262964" y="10179"/>
                    </a:cubicBezTo>
                    <a:cubicBezTo>
                      <a:pt x="262964" y="15786"/>
                      <a:pt x="258412" y="20359"/>
                      <a:pt x="252786" y="20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151"/>
              <p:cNvSpPr/>
              <p:nvPr/>
            </p:nvSpPr>
            <p:spPr>
              <a:xfrm>
                <a:off x="1790647" y="1777547"/>
                <a:ext cx="132327" cy="20358"/>
              </a:xfrm>
              <a:custGeom>
                <a:avLst/>
                <a:gdLst>
                  <a:gd name="connsiteX0" fmla="*/ 122149 w 132327"/>
                  <a:gd name="connsiteY0" fmla="*/ 20359 h 20358"/>
                  <a:gd name="connsiteX1" fmla="*/ 10178 w 132327"/>
                  <a:gd name="connsiteY1" fmla="*/ 20359 h 20358"/>
                  <a:gd name="connsiteX2" fmla="*/ 0 w 132327"/>
                  <a:gd name="connsiteY2" fmla="*/ 10179 h 20358"/>
                  <a:gd name="connsiteX3" fmla="*/ 10178 w 132327"/>
                  <a:gd name="connsiteY3" fmla="*/ 0 h 20358"/>
                  <a:gd name="connsiteX4" fmla="*/ 122149 w 132327"/>
                  <a:gd name="connsiteY4" fmla="*/ 0 h 20358"/>
                  <a:gd name="connsiteX5" fmla="*/ 132327 w 132327"/>
                  <a:gd name="connsiteY5" fmla="*/ 10179 h 20358"/>
                  <a:gd name="connsiteX6" fmla="*/ 122149 w 132327"/>
                  <a:gd name="connsiteY6" fmla="*/ 20359 h 2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2327" h="20358">
                    <a:moveTo>
                      <a:pt x="122149" y="20359"/>
                    </a:moveTo>
                    <a:lnTo>
                      <a:pt x="10178" y="20359"/>
                    </a:lnTo>
                    <a:cubicBezTo>
                      <a:pt x="4553" y="20359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122149" y="0"/>
                    </a:lnTo>
                    <a:cubicBezTo>
                      <a:pt x="127774" y="0"/>
                      <a:pt x="132327" y="4573"/>
                      <a:pt x="132327" y="10179"/>
                    </a:cubicBezTo>
                    <a:cubicBezTo>
                      <a:pt x="132327" y="15786"/>
                      <a:pt x="127774" y="20359"/>
                      <a:pt x="122149" y="20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Полилиния: фигура 152"/>
              <p:cNvSpPr/>
              <p:nvPr/>
            </p:nvSpPr>
            <p:spPr>
              <a:xfrm>
                <a:off x="1790647" y="1845978"/>
                <a:ext cx="138549" cy="20357"/>
              </a:xfrm>
              <a:custGeom>
                <a:avLst/>
                <a:gdLst>
                  <a:gd name="connsiteX0" fmla="*/ 128371 w 138549"/>
                  <a:gd name="connsiteY0" fmla="*/ 20358 h 20357"/>
                  <a:gd name="connsiteX1" fmla="*/ 10178 w 138549"/>
                  <a:gd name="connsiteY1" fmla="*/ 20358 h 20357"/>
                  <a:gd name="connsiteX2" fmla="*/ 0 w 138549"/>
                  <a:gd name="connsiteY2" fmla="*/ 10179 h 20357"/>
                  <a:gd name="connsiteX3" fmla="*/ 10178 w 138549"/>
                  <a:gd name="connsiteY3" fmla="*/ 0 h 20357"/>
                  <a:gd name="connsiteX4" fmla="*/ 128371 w 138549"/>
                  <a:gd name="connsiteY4" fmla="*/ 0 h 20357"/>
                  <a:gd name="connsiteX5" fmla="*/ 138550 w 138549"/>
                  <a:gd name="connsiteY5" fmla="*/ 10179 h 20357"/>
                  <a:gd name="connsiteX6" fmla="*/ 128371 w 138549"/>
                  <a:gd name="connsiteY6" fmla="*/ 20358 h 20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549" h="20357">
                    <a:moveTo>
                      <a:pt x="128371" y="20358"/>
                    </a:moveTo>
                    <a:lnTo>
                      <a:pt x="10178" y="20358"/>
                    </a:lnTo>
                    <a:cubicBezTo>
                      <a:pt x="4553" y="20358"/>
                      <a:pt x="0" y="15786"/>
                      <a:pt x="0" y="10179"/>
                    </a:cubicBezTo>
                    <a:cubicBezTo>
                      <a:pt x="0" y="4573"/>
                      <a:pt x="4553" y="0"/>
                      <a:pt x="10178" y="0"/>
                    </a:cubicBezTo>
                    <a:lnTo>
                      <a:pt x="128371" y="0"/>
                    </a:lnTo>
                    <a:cubicBezTo>
                      <a:pt x="133997" y="0"/>
                      <a:pt x="138550" y="4573"/>
                      <a:pt x="138550" y="10179"/>
                    </a:cubicBezTo>
                    <a:cubicBezTo>
                      <a:pt x="138550" y="15786"/>
                      <a:pt x="133997" y="20358"/>
                      <a:pt x="128371" y="203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153"/>
              <p:cNvSpPr/>
              <p:nvPr/>
            </p:nvSpPr>
            <p:spPr>
              <a:xfrm>
                <a:off x="1869060" y="1749952"/>
                <a:ext cx="326504" cy="383225"/>
              </a:xfrm>
              <a:custGeom>
                <a:avLst/>
                <a:gdLst>
                  <a:gd name="connsiteX0" fmla="*/ 198170 w 326504"/>
                  <a:gd name="connsiteY0" fmla="*/ 383225 h 383225"/>
                  <a:gd name="connsiteX1" fmla="*/ 126161 w 326504"/>
                  <a:gd name="connsiteY1" fmla="*/ 371972 h 383225"/>
                  <a:gd name="connsiteX2" fmla="*/ 41966 w 326504"/>
                  <a:gd name="connsiteY2" fmla="*/ 265410 h 383225"/>
                  <a:gd name="connsiteX3" fmla="*/ 7810 w 326504"/>
                  <a:gd name="connsiteY3" fmla="*/ 215430 h 383225"/>
                  <a:gd name="connsiteX4" fmla="*/ 633 w 326504"/>
                  <a:gd name="connsiteY4" fmla="*/ 198213 h 383225"/>
                  <a:gd name="connsiteX5" fmla="*/ 51310 w 326504"/>
                  <a:gd name="connsiteY5" fmla="*/ 182865 h 383225"/>
                  <a:gd name="connsiteX6" fmla="*/ 107771 w 326504"/>
                  <a:gd name="connsiteY6" fmla="*/ 219326 h 383225"/>
                  <a:gd name="connsiteX7" fmla="*/ 106957 w 326504"/>
                  <a:gd name="connsiteY7" fmla="*/ 49543 h 383225"/>
                  <a:gd name="connsiteX8" fmla="*/ 139083 w 326504"/>
                  <a:gd name="connsiteY8" fmla="*/ 0 h 383225"/>
                  <a:gd name="connsiteX9" fmla="*/ 139681 w 326504"/>
                  <a:gd name="connsiteY9" fmla="*/ 0 h 383225"/>
                  <a:gd name="connsiteX10" fmla="*/ 185386 w 326504"/>
                  <a:gd name="connsiteY10" fmla="*/ 36264 h 383225"/>
                  <a:gd name="connsiteX11" fmla="*/ 188230 w 326504"/>
                  <a:gd name="connsiteY11" fmla="*/ 164297 h 383225"/>
                  <a:gd name="connsiteX12" fmla="*/ 211211 w 326504"/>
                  <a:gd name="connsiteY12" fmla="*/ 164813 h 383225"/>
                  <a:gd name="connsiteX13" fmla="*/ 233081 w 326504"/>
                  <a:gd name="connsiteY13" fmla="*/ 180122 h 383225"/>
                  <a:gd name="connsiteX14" fmla="*/ 250397 w 326504"/>
                  <a:gd name="connsiteY14" fmla="*/ 177856 h 383225"/>
                  <a:gd name="connsiteX15" fmla="*/ 284413 w 326504"/>
                  <a:gd name="connsiteY15" fmla="*/ 193720 h 383225"/>
                  <a:gd name="connsiteX16" fmla="*/ 308548 w 326504"/>
                  <a:gd name="connsiteY16" fmla="*/ 198890 h 383225"/>
                  <a:gd name="connsiteX17" fmla="*/ 325647 w 326504"/>
                  <a:gd name="connsiteY17" fmla="*/ 232090 h 383225"/>
                  <a:gd name="connsiteX18" fmla="*/ 319265 w 326504"/>
                  <a:gd name="connsiteY18" fmla="*/ 256703 h 383225"/>
                  <a:gd name="connsiteX19" fmla="*/ 289781 w 326504"/>
                  <a:gd name="connsiteY19" fmla="*/ 358334 h 383225"/>
                  <a:gd name="connsiteX20" fmla="*/ 211152 w 326504"/>
                  <a:gd name="connsiteY20" fmla="*/ 382589 h 383225"/>
                  <a:gd name="connsiteX21" fmla="*/ 211152 w 326504"/>
                  <a:gd name="connsiteY21" fmla="*/ 382589 h 383225"/>
                  <a:gd name="connsiteX22" fmla="*/ 198170 w 326504"/>
                  <a:gd name="connsiteY22" fmla="*/ 383225 h 383225"/>
                  <a:gd name="connsiteX23" fmla="*/ 25862 w 326504"/>
                  <a:gd name="connsiteY23" fmla="*/ 205171 h 383225"/>
                  <a:gd name="connsiteX24" fmla="*/ 59103 w 326504"/>
                  <a:gd name="connsiteY24" fmla="*/ 254397 h 383225"/>
                  <a:gd name="connsiteX25" fmla="*/ 131390 w 326504"/>
                  <a:gd name="connsiteY25" fmla="*/ 352291 h 383225"/>
                  <a:gd name="connsiteX26" fmla="*/ 209005 w 326504"/>
                  <a:gd name="connsiteY26" fmla="*/ 362310 h 383225"/>
                  <a:gd name="connsiteX27" fmla="*/ 209045 w 326504"/>
                  <a:gd name="connsiteY27" fmla="*/ 362310 h 383225"/>
                  <a:gd name="connsiteX28" fmla="*/ 272564 w 326504"/>
                  <a:gd name="connsiteY28" fmla="*/ 347519 h 383225"/>
                  <a:gd name="connsiteX29" fmla="*/ 299543 w 326504"/>
                  <a:gd name="connsiteY29" fmla="*/ 251692 h 383225"/>
                  <a:gd name="connsiteX30" fmla="*/ 306143 w 326504"/>
                  <a:gd name="connsiteY30" fmla="*/ 226245 h 383225"/>
                  <a:gd name="connsiteX31" fmla="*/ 295527 w 326504"/>
                  <a:gd name="connsiteY31" fmla="*/ 214914 h 383225"/>
                  <a:gd name="connsiteX32" fmla="*/ 286600 w 326504"/>
                  <a:gd name="connsiteY32" fmla="*/ 214754 h 383225"/>
                  <a:gd name="connsiteX33" fmla="*/ 276003 w 326504"/>
                  <a:gd name="connsiteY33" fmla="*/ 216702 h 383225"/>
                  <a:gd name="connsiteX34" fmla="*/ 269602 w 326504"/>
                  <a:gd name="connsiteY34" fmla="*/ 207995 h 383225"/>
                  <a:gd name="connsiteX35" fmla="*/ 247137 w 326504"/>
                  <a:gd name="connsiteY35" fmla="*/ 198054 h 383225"/>
                  <a:gd name="connsiteX36" fmla="*/ 238031 w 326504"/>
                  <a:gd name="connsiteY36" fmla="*/ 201832 h 383225"/>
                  <a:gd name="connsiteX37" fmla="*/ 226957 w 326504"/>
                  <a:gd name="connsiteY37" fmla="*/ 209585 h 383225"/>
                  <a:gd name="connsiteX38" fmla="*/ 217951 w 326504"/>
                  <a:gd name="connsiteY38" fmla="*/ 199486 h 383225"/>
                  <a:gd name="connsiteX39" fmla="*/ 208766 w 326504"/>
                  <a:gd name="connsiteY39" fmla="*/ 185370 h 383225"/>
                  <a:gd name="connsiteX40" fmla="*/ 186460 w 326504"/>
                  <a:gd name="connsiteY40" fmla="*/ 186682 h 383225"/>
                  <a:gd name="connsiteX41" fmla="*/ 175029 w 326504"/>
                  <a:gd name="connsiteY41" fmla="*/ 191414 h 383225"/>
                  <a:gd name="connsiteX42" fmla="*/ 167613 w 326504"/>
                  <a:gd name="connsiteY42" fmla="*/ 181235 h 383225"/>
                  <a:gd name="connsiteX43" fmla="*/ 165128 w 326504"/>
                  <a:gd name="connsiteY43" fmla="*/ 38530 h 383225"/>
                  <a:gd name="connsiteX44" fmla="*/ 138487 w 326504"/>
                  <a:gd name="connsiteY44" fmla="*/ 20438 h 383225"/>
                  <a:gd name="connsiteX45" fmla="*/ 127314 w 326504"/>
                  <a:gd name="connsiteY45" fmla="*/ 49941 h 383225"/>
                  <a:gd name="connsiteX46" fmla="*/ 128607 w 326504"/>
                  <a:gd name="connsiteY46" fmla="*/ 245729 h 383225"/>
                  <a:gd name="connsiteX47" fmla="*/ 122046 w 326504"/>
                  <a:gd name="connsiteY47" fmla="*/ 255430 h 383225"/>
                  <a:gd name="connsiteX48" fmla="*/ 110694 w 326504"/>
                  <a:gd name="connsiteY48" fmla="*/ 252528 h 383225"/>
                  <a:gd name="connsiteX49" fmla="*/ 51310 w 326504"/>
                  <a:gd name="connsiteY49" fmla="*/ 203224 h 383225"/>
                  <a:gd name="connsiteX50" fmla="*/ 25862 w 326504"/>
                  <a:gd name="connsiteY50" fmla="*/ 205171 h 38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26504" h="383225">
                    <a:moveTo>
                      <a:pt x="198170" y="383225"/>
                    </a:moveTo>
                    <a:cubicBezTo>
                      <a:pt x="178806" y="383225"/>
                      <a:pt x="154670" y="379447"/>
                      <a:pt x="126161" y="371972"/>
                    </a:cubicBezTo>
                    <a:cubicBezTo>
                      <a:pt x="109859" y="367678"/>
                      <a:pt x="86996" y="335631"/>
                      <a:pt x="41966" y="265410"/>
                    </a:cubicBezTo>
                    <a:cubicBezTo>
                      <a:pt x="28725" y="244734"/>
                      <a:pt x="12244" y="219048"/>
                      <a:pt x="7810" y="215430"/>
                    </a:cubicBezTo>
                    <a:cubicBezTo>
                      <a:pt x="-1494" y="208631"/>
                      <a:pt x="-322" y="201116"/>
                      <a:pt x="633" y="198213"/>
                    </a:cubicBezTo>
                    <a:cubicBezTo>
                      <a:pt x="2004" y="194039"/>
                      <a:pt x="5623" y="182865"/>
                      <a:pt x="51310" y="182865"/>
                    </a:cubicBezTo>
                    <a:cubicBezTo>
                      <a:pt x="67970" y="182865"/>
                      <a:pt x="91032" y="202468"/>
                      <a:pt x="107771" y="219326"/>
                    </a:cubicBezTo>
                    <a:cubicBezTo>
                      <a:pt x="107096" y="178452"/>
                      <a:pt x="106042" y="100001"/>
                      <a:pt x="106957" y="49543"/>
                    </a:cubicBezTo>
                    <a:cubicBezTo>
                      <a:pt x="107732" y="6998"/>
                      <a:pt x="127413" y="239"/>
                      <a:pt x="139083" y="0"/>
                    </a:cubicBezTo>
                    <a:cubicBezTo>
                      <a:pt x="139282" y="0"/>
                      <a:pt x="139482" y="0"/>
                      <a:pt x="139681" y="0"/>
                    </a:cubicBezTo>
                    <a:cubicBezTo>
                      <a:pt x="160456" y="0"/>
                      <a:pt x="184532" y="21432"/>
                      <a:pt x="185386" y="36264"/>
                    </a:cubicBezTo>
                    <a:cubicBezTo>
                      <a:pt x="187772" y="78371"/>
                      <a:pt x="189045" y="100717"/>
                      <a:pt x="188230" y="164297"/>
                    </a:cubicBezTo>
                    <a:cubicBezTo>
                      <a:pt x="195745" y="162785"/>
                      <a:pt x="204094" y="162944"/>
                      <a:pt x="211211" y="164813"/>
                    </a:cubicBezTo>
                    <a:cubicBezTo>
                      <a:pt x="220994" y="167358"/>
                      <a:pt x="228488" y="172725"/>
                      <a:pt x="233081" y="180122"/>
                    </a:cubicBezTo>
                    <a:cubicBezTo>
                      <a:pt x="237991" y="178174"/>
                      <a:pt x="243857" y="177219"/>
                      <a:pt x="250397" y="177856"/>
                    </a:cubicBezTo>
                    <a:cubicBezTo>
                      <a:pt x="263121" y="178849"/>
                      <a:pt x="276938" y="184774"/>
                      <a:pt x="284413" y="193720"/>
                    </a:cubicBezTo>
                    <a:cubicBezTo>
                      <a:pt x="291968" y="192050"/>
                      <a:pt x="300437" y="193759"/>
                      <a:pt x="308548" y="198890"/>
                    </a:cubicBezTo>
                    <a:cubicBezTo>
                      <a:pt x="319523" y="205808"/>
                      <a:pt x="329543" y="219167"/>
                      <a:pt x="325647" y="232090"/>
                    </a:cubicBezTo>
                    <a:cubicBezTo>
                      <a:pt x="324652" y="235430"/>
                      <a:pt x="322306" y="244694"/>
                      <a:pt x="319265" y="256703"/>
                    </a:cubicBezTo>
                    <a:cubicBezTo>
                      <a:pt x="304334" y="315630"/>
                      <a:pt x="295229" y="349268"/>
                      <a:pt x="289781" y="358334"/>
                    </a:cubicBezTo>
                    <a:cubicBezTo>
                      <a:pt x="280775" y="373325"/>
                      <a:pt x="236659" y="379965"/>
                      <a:pt x="211152" y="382589"/>
                    </a:cubicBezTo>
                    <a:lnTo>
                      <a:pt x="211152" y="382589"/>
                    </a:lnTo>
                    <a:cubicBezTo>
                      <a:pt x="207097" y="382987"/>
                      <a:pt x="202763" y="383225"/>
                      <a:pt x="198170" y="383225"/>
                    </a:cubicBezTo>
                    <a:close/>
                    <a:moveTo>
                      <a:pt x="25862" y="205171"/>
                    </a:moveTo>
                    <a:cubicBezTo>
                      <a:pt x="32562" y="213283"/>
                      <a:pt x="42204" y="228074"/>
                      <a:pt x="59103" y="254397"/>
                    </a:cubicBezTo>
                    <a:cubicBezTo>
                      <a:pt x="80097" y="287161"/>
                      <a:pt x="119203" y="348115"/>
                      <a:pt x="131390" y="352291"/>
                    </a:cubicBezTo>
                    <a:cubicBezTo>
                      <a:pt x="163776" y="360759"/>
                      <a:pt x="190655" y="364338"/>
                      <a:pt x="209005" y="362310"/>
                    </a:cubicBezTo>
                    <a:cubicBezTo>
                      <a:pt x="209025" y="362310"/>
                      <a:pt x="209025" y="362310"/>
                      <a:pt x="209045" y="362310"/>
                    </a:cubicBezTo>
                    <a:cubicBezTo>
                      <a:pt x="238389" y="359328"/>
                      <a:pt x="268071" y="352370"/>
                      <a:pt x="272564" y="347519"/>
                    </a:cubicBezTo>
                    <a:cubicBezTo>
                      <a:pt x="277256" y="339646"/>
                      <a:pt x="292863" y="278015"/>
                      <a:pt x="299543" y="251692"/>
                    </a:cubicBezTo>
                    <a:cubicBezTo>
                      <a:pt x="302684" y="239287"/>
                      <a:pt x="305110" y="229705"/>
                      <a:pt x="306143" y="226245"/>
                    </a:cubicBezTo>
                    <a:cubicBezTo>
                      <a:pt x="306242" y="224496"/>
                      <a:pt x="302366" y="218213"/>
                      <a:pt x="295527" y="214914"/>
                    </a:cubicBezTo>
                    <a:cubicBezTo>
                      <a:pt x="292823" y="213641"/>
                      <a:pt x="289065" y="212568"/>
                      <a:pt x="286600" y="214754"/>
                    </a:cubicBezTo>
                    <a:cubicBezTo>
                      <a:pt x="283738" y="217419"/>
                      <a:pt x="279602" y="218134"/>
                      <a:pt x="276003" y="216702"/>
                    </a:cubicBezTo>
                    <a:cubicBezTo>
                      <a:pt x="272386" y="215271"/>
                      <a:pt x="269901" y="211891"/>
                      <a:pt x="269602" y="207995"/>
                    </a:cubicBezTo>
                    <a:cubicBezTo>
                      <a:pt x="269065" y="205251"/>
                      <a:pt x="258827" y="198292"/>
                      <a:pt x="247137" y="198054"/>
                    </a:cubicBezTo>
                    <a:cubicBezTo>
                      <a:pt x="243140" y="197656"/>
                      <a:pt x="238786" y="198571"/>
                      <a:pt x="238031" y="201832"/>
                    </a:cubicBezTo>
                    <a:cubicBezTo>
                      <a:pt x="236859" y="206841"/>
                      <a:pt x="232226" y="210222"/>
                      <a:pt x="226957" y="209585"/>
                    </a:cubicBezTo>
                    <a:cubicBezTo>
                      <a:pt x="221828" y="208989"/>
                      <a:pt x="217951" y="204654"/>
                      <a:pt x="217951" y="199486"/>
                    </a:cubicBezTo>
                    <a:cubicBezTo>
                      <a:pt x="217951" y="192329"/>
                      <a:pt x="215029" y="187875"/>
                      <a:pt x="208766" y="185370"/>
                    </a:cubicBezTo>
                    <a:cubicBezTo>
                      <a:pt x="199541" y="181752"/>
                      <a:pt x="188448" y="184535"/>
                      <a:pt x="186460" y="186682"/>
                    </a:cubicBezTo>
                    <a:cubicBezTo>
                      <a:pt x="184174" y="190778"/>
                      <a:pt x="179581" y="192527"/>
                      <a:pt x="175029" y="191414"/>
                    </a:cubicBezTo>
                    <a:cubicBezTo>
                      <a:pt x="170535" y="190181"/>
                      <a:pt x="167534" y="185887"/>
                      <a:pt x="167613" y="181235"/>
                    </a:cubicBezTo>
                    <a:cubicBezTo>
                      <a:pt x="168885" y="104812"/>
                      <a:pt x="167633" y="82666"/>
                      <a:pt x="165128" y="38530"/>
                    </a:cubicBezTo>
                    <a:cubicBezTo>
                      <a:pt x="163776" y="32883"/>
                      <a:pt x="148587" y="20001"/>
                      <a:pt x="138487" y="20438"/>
                    </a:cubicBezTo>
                    <a:cubicBezTo>
                      <a:pt x="128865" y="21591"/>
                      <a:pt x="127473" y="41432"/>
                      <a:pt x="127314" y="49941"/>
                    </a:cubicBezTo>
                    <a:cubicBezTo>
                      <a:pt x="126042" y="119922"/>
                      <a:pt x="128587" y="244456"/>
                      <a:pt x="128607" y="245729"/>
                    </a:cubicBezTo>
                    <a:cubicBezTo>
                      <a:pt x="128686" y="250023"/>
                      <a:pt x="126062" y="253919"/>
                      <a:pt x="122046" y="255430"/>
                    </a:cubicBezTo>
                    <a:cubicBezTo>
                      <a:pt x="118049" y="257021"/>
                      <a:pt x="113477" y="255788"/>
                      <a:pt x="110694" y="252528"/>
                    </a:cubicBezTo>
                    <a:cubicBezTo>
                      <a:pt x="90335" y="228711"/>
                      <a:pt x="61608" y="203224"/>
                      <a:pt x="51310" y="203224"/>
                    </a:cubicBezTo>
                    <a:cubicBezTo>
                      <a:pt x="40773" y="203224"/>
                      <a:pt x="31886" y="204098"/>
                      <a:pt x="25862" y="2051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Текст 23"/>
          <p:cNvSpPr>
            <a:spLocks noGrp="1"/>
          </p:cNvSpPr>
          <p:nvPr>
            <p:ph type="body" sz="quarter" idx="13"/>
          </p:nvPr>
        </p:nvSpPr>
        <p:spPr>
          <a:xfrm>
            <a:off x="1490980" y="1603375"/>
            <a:ext cx="9210040" cy="3759200"/>
          </a:xfrm>
        </p:spPr>
        <p:txBody>
          <a:bodyPr/>
          <a:lstStyle/>
          <a:p>
            <a:r>
              <a:rPr altLang="en-US" sz="2400" b="1">
                <a:solidFill>
                  <a:schemeClr val="accent5"/>
                </a:solidFill>
                <a:sym typeface="+mn-ea"/>
              </a:rPr>
              <a:t>Цель работы</a:t>
            </a:r>
            <a:r>
              <a:rPr lang="en-US" altLang="en-US" sz="2400" b="1">
                <a:solidFill>
                  <a:schemeClr val="accent5"/>
                </a:solidFill>
                <a:sym typeface="+mn-ea"/>
              </a:rPr>
              <a:t>:</a:t>
            </a:r>
            <a:r>
              <a:rPr lang="en-US" altLang="en-US" sz="2400" b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Разработка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интеллектуальной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системы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подбора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музыкальных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треков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по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ритму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движения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пользователя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на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основе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данных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акселерометра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.</a:t>
            </a:r>
            <a:endParaRPr lang="en-US" altLang="ru-RU" sz="2400">
              <a:solidFill>
                <a:schemeClr val="tx1"/>
              </a:solidFill>
            </a:endParaRPr>
          </a:p>
          <a:p>
            <a:br>
              <a:rPr lang="en-US" altLang="en-US" sz="2400" b="1">
                <a:solidFill>
                  <a:schemeClr val="tx1"/>
                </a:solidFill>
                <a:sym typeface="+mn-ea"/>
              </a:rPr>
            </a:br>
            <a:r>
              <a:rPr lang="en-US" altLang="en-US" sz="2400" b="1">
                <a:solidFill>
                  <a:schemeClr val="accent5"/>
                </a:solidFill>
                <a:sym typeface="+mn-ea"/>
              </a:rPr>
              <a:t>Основные</a:t>
            </a:r>
            <a:r>
              <a:rPr lang="en-US" altLang="ru-RU" sz="2400" b="1">
                <a:solidFill>
                  <a:schemeClr val="accent5"/>
                </a:solidFill>
                <a:sym typeface="+mn-ea"/>
              </a:rPr>
              <a:t> </a:t>
            </a:r>
            <a:r>
              <a:rPr lang="en-US" altLang="en-US" sz="2400" b="1">
                <a:solidFill>
                  <a:schemeClr val="accent5"/>
                </a:solidFill>
                <a:sym typeface="+mn-ea"/>
              </a:rPr>
              <a:t>задачи:</a:t>
            </a:r>
            <a:endParaRPr lang="en-US" altLang="en-US" sz="2400" b="1">
              <a:solidFill>
                <a:schemeClr val="tx1"/>
              </a:solidFill>
              <a:sym typeface="+mn-ea"/>
            </a:endParaRPr>
          </a:p>
          <a:p>
            <a:br>
              <a:rPr lang="en-US" altLang="en-US" sz="2400">
                <a:solidFill>
                  <a:schemeClr val="tx1"/>
                </a:solidFill>
                <a:sym typeface="+mn-ea"/>
              </a:rPr>
            </a:br>
            <a:r>
              <a:rPr lang="en-US" altLang="en-US" sz="2400">
                <a:solidFill>
                  <a:schemeClr val="tx1"/>
                </a:solidFill>
                <a:sym typeface="+mn-ea"/>
              </a:rPr>
              <a:t>1. </a:t>
            </a:r>
            <a:r>
              <a:rPr altLang="en-US" sz="2400">
                <a:solidFill>
                  <a:schemeClr val="tx1"/>
                </a:solidFill>
                <a:sym typeface="+mn-ea"/>
              </a:rPr>
              <a:t>Ан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ализ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данных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движения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и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вычисление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BPM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активности</a:t>
            </a:r>
            <a:br>
              <a:rPr lang="en-US" altLang="en-US" sz="2400">
                <a:solidFill>
                  <a:schemeClr val="tx1"/>
                </a:solidFill>
                <a:sym typeface="+mn-ea"/>
              </a:rPr>
            </a:br>
            <a:r>
              <a:rPr lang="en-US" altLang="en-US" sz="2400">
                <a:solidFill>
                  <a:schemeClr val="tx1"/>
                </a:solidFill>
                <a:sym typeface="+mn-ea"/>
              </a:rPr>
              <a:t>2. </a:t>
            </a:r>
            <a:r>
              <a:rPr altLang="en-US" sz="2400">
                <a:solidFill>
                  <a:schemeClr val="tx1"/>
                </a:solidFill>
                <a:sym typeface="+mn-ea"/>
              </a:rPr>
              <a:t>А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нализ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музыкальных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характеристик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треков</a:t>
            </a:r>
            <a:br>
              <a:rPr lang="en-US" altLang="en-US" sz="2400">
                <a:solidFill>
                  <a:schemeClr val="tx1"/>
                </a:solidFill>
                <a:sym typeface="+mn-ea"/>
              </a:rPr>
            </a:br>
            <a:r>
              <a:rPr lang="en-US" altLang="en-US" sz="2400">
                <a:solidFill>
                  <a:schemeClr val="tx1"/>
                </a:solidFill>
                <a:sym typeface="+mn-ea"/>
              </a:rPr>
              <a:t>3. </a:t>
            </a:r>
            <a:r>
              <a:rPr altLang="en-US" sz="2400">
                <a:solidFill>
                  <a:schemeClr val="tx1"/>
                </a:solidFill>
                <a:sym typeface="+mn-ea"/>
              </a:rPr>
              <a:t>Р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азработка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модели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оценки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соответствия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движения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и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музыки</a:t>
            </a:r>
            <a:br>
              <a:rPr lang="en-US" altLang="en-US" sz="2400">
                <a:solidFill>
                  <a:schemeClr val="tx1"/>
                </a:solidFill>
                <a:sym typeface="+mn-ea"/>
              </a:rPr>
            </a:br>
            <a:r>
              <a:rPr lang="en-US" altLang="en-US" sz="2400">
                <a:solidFill>
                  <a:schemeClr val="tx1"/>
                </a:solidFill>
                <a:sym typeface="+mn-ea"/>
              </a:rPr>
              <a:t>4. </a:t>
            </a:r>
            <a:r>
              <a:rPr altLang="en-US" sz="2400">
                <a:solidFill>
                  <a:schemeClr val="tx1"/>
                </a:solidFill>
                <a:sym typeface="+mn-ea"/>
              </a:rPr>
              <a:t>Р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еализация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прототипа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и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оценка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качества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работы</a:t>
            </a:r>
            <a:r>
              <a:rPr lang="en-US" altLang="ru-RU" sz="24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системы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Заголовок 5"/>
          <p:cNvSpPr>
            <a:spLocks noGrp="1"/>
          </p:cNvSpPr>
          <p:nvPr/>
        </p:nvSpPr>
        <p:spPr>
          <a:xfrm>
            <a:off x="336000" y="150528"/>
            <a:ext cx="11520000" cy="12922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altLang="en-US" sz="2800">
                <a:sym typeface="+mn-ea"/>
              </a:rPr>
              <a:t>Цель</a:t>
            </a:r>
            <a:r>
              <a:rPr altLang="ru-RU" sz="2800">
                <a:sym typeface="+mn-ea"/>
              </a:rPr>
              <a:t> </a:t>
            </a:r>
            <a:r>
              <a:rPr altLang="en-US" sz="2800">
                <a:sym typeface="+mn-ea"/>
              </a:rPr>
              <a:t>и</a:t>
            </a:r>
            <a:r>
              <a:rPr altLang="ru-RU" sz="2800">
                <a:sym typeface="+mn-ea"/>
              </a:rPr>
              <a:t> </a:t>
            </a:r>
            <a:r>
              <a:rPr altLang="en-US" sz="2800">
                <a:sym typeface="+mn-ea"/>
              </a:rPr>
              <a:t>задачи</a:t>
            </a:r>
            <a:r>
              <a:rPr altLang="ru-RU" sz="2800">
                <a:sym typeface="+mn-ea"/>
              </a:rPr>
              <a:t> </a:t>
            </a:r>
            <a:r>
              <a:rPr altLang="en-US" sz="2800">
                <a:sym typeface="+mn-ea"/>
              </a:rPr>
              <a:t>работы</a:t>
            </a:r>
            <a:endParaRPr lang="en-US" altLang="en-US" sz="2800"/>
          </a:p>
          <a:p>
            <a:pPr>
              <a:defRPr/>
            </a:pPr>
            <a:b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sz="2800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Заголовок 5"/>
          <p:cNvSpPr>
            <a:spLocks noGrp="1"/>
          </p:cNvSpPr>
          <p:nvPr/>
        </p:nvSpPr>
        <p:spPr>
          <a:xfrm>
            <a:off x="336000" y="150528"/>
            <a:ext cx="11520000" cy="172339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altLang="en-US" sz="2800">
                <a:sym typeface="+mn-ea"/>
              </a:rPr>
              <a:t>Аналоги</a:t>
            </a: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b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sz="2800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3560" y="1405890"/>
          <a:ext cx="11105515" cy="4100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6405"/>
                <a:gridCol w="1543685"/>
                <a:gridCol w="1197610"/>
                <a:gridCol w="1367790"/>
                <a:gridCol w="1116330"/>
                <a:gridCol w="1266190"/>
                <a:gridCol w="1427480"/>
                <a:gridCol w="1470025"/>
              </a:tblGrid>
              <a:tr h="12274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Система</a:t>
                      </a:r>
                      <a:endParaRPr lang="en-US" altLang="zh-CN" sz="1800" b="1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Определение BPM движения</a:t>
                      </a:r>
                      <a:endParaRPr lang="en-US" altLang="zh-CN" sz="1800" b="1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Подб</a:t>
                      </a:r>
                      <a:r>
                        <a:rPr lang="ru-RU" altLang="en-US" sz="1800" b="1">
                          <a:solidFill>
                            <a:schemeClr val="accent5"/>
                          </a:solidFill>
                        </a:rPr>
                        <a:t>о</a:t>
                      </a: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р по BPM</a:t>
                      </a:r>
                      <a:endParaRPr lang="en-US" altLang="zh-CN" sz="1800" b="1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Учёт энергичности</a:t>
                      </a:r>
                      <a:endParaRPr lang="en-US" altLang="zh-CN" sz="1800" b="1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Учёт танцевальности</a:t>
                      </a:r>
                      <a:endParaRPr lang="en-US" altLang="zh-CN" sz="1800" b="1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Жанровые предпочтения</a:t>
                      </a:r>
                      <a:endParaRPr lang="en-US" altLang="zh-CN" sz="1800" b="1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Фильтрация по артистам</a:t>
                      </a:r>
                      <a:endParaRPr lang="en-US" altLang="zh-CN" sz="1800" b="1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>
                          <a:solidFill>
                            <a:schemeClr val="accent5"/>
                          </a:solidFill>
                        </a:rPr>
                        <a:t>Доступность технологии</a:t>
                      </a:r>
                      <a:endParaRPr lang="en-US" altLang="zh-CN" sz="1800" b="1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8978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Spotify Running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RockMyRun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altLang="en-US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ru-RU" altLang="en-US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PaceDJ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Нет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78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Разрабатываемая система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accent5"/>
                          </a:solidFill>
                        </a:rPr>
                        <a:t>Да</a:t>
                      </a:r>
                      <a:endParaRPr lang="en-US" altLang="zh-CN" sz="1800">
                        <a:solidFill>
                          <a:schemeClr val="accent5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/>
        </p:nvSpPr>
        <p:spPr>
          <a:xfrm>
            <a:off x="336000" y="150528"/>
            <a:ext cx="11520000" cy="21539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2800"/>
              <a:t>Используемые</a:t>
            </a:r>
            <a:r>
              <a:rPr lang="en-US" altLang="ru-RU" sz="2800"/>
              <a:t> </a:t>
            </a:r>
            <a:r>
              <a:rPr lang="en-US" altLang="en-US" sz="2800"/>
              <a:t>данные</a:t>
            </a:r>
            <a:r>
              <a:rPr lang="en-US" altLang="ru-RU" sz="2800"/>
              <a:t> </a:t>
            </a:r>
            <a:r>
              <a:rPr lang="en-US" altLang="en-US" sz="2800"/>
              <a:t>и</a:t>
            </a:r>
            <a:r>
              <a:rPr lang="en-US" altLang="ru-RU" sz="2800"/>
              <a:t> </a:t>
            </a:r>
            <a:r>
              <a:rPr lang="en-US" altLang="en-US" sz="2800"/>
              <a:t>модель</a:t>
            </a: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b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sz="2800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2573020" y="1691640"/>
            <a:ext cx="186118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800" b="1">
                <a:solidFill>
                  <a:schemeClr val="accent5"/>
                </a:solidFill>
              </a:rPr>
              <a:t>Данные</a:t>
            </a:r>
            <a:endParaRPr lang="en-US" altLang="zh-CN" sz="2800" b="1">
              <a:solidFill>
                <a:schemeClr val="accent5"/>
              </a:solidFill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7951470" y="1807845"/>
            <a:ext cx="186118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en-US" sz="2800" b="1">
                <a:solidFill>
                  <a:schemeClr val="accent5"/>
                </a:solidFill>
              </a:rPr>
              <a:t>Модель</a:t>
            </a:r>
            <a:endParaRPr lang="en-US" altLang="en-US" sz="2800" b="1">
              <a:solidFill>
                <a:schemeClr val="accent5"/>
              </a:solidFill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936625" y="2237740"/>
            <a:ext cx="5133975" cy="319278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ctr">
              <a:lnSpc>
                <a:spcPct val="120000"/>
              </a:lnSpc>
              <a:buFont typeface="Wingdings" panose="05000000000000000000" charset="0"/>
              <a:buChar char="è"/>
            </a:pPr>
            <a:r>
              <a:rPr lang="ru-RU" altLang="en-US" sz="2400">
                <a:solidFill>
                  <a:schemeClr val="tx1"/>
                </a:solidFill>
              </a:rPr>
              <a:t>Д</a:t>
            </a:r>
            <a:r>
              <a:rPr lang="en-US" altLang="zh-CN" sz="2400">
                <a:solidFill>
                  <a:schemeClr val="tx1"/>
                </a:solidFill>
              </a:rPr>
              <a:t>анные акселерометра (датасет MotionSense)</a:t>
            </a:r>
            <a:endParaRPr lang="en-US" altLang="zh-CN" sz="2400">
              <a:solidFill>
                <a:schemeClr val="tx1"/>
              </a:solidFill>
            </a:endParaRPr>
          </a:p>
          <a:p>
            <a:pPr marL="342900" indent="-342900" algn="ctr">
              <a:lnSpc>
                <a:spcPct val="120000"/>
              </a:lnSpc>
              <a:buFont typeface="Wingdings" panose="05000000000000000000" charset="0"/>
              <a:buChar char="è"/>
            </a:pPr>
            <a:r>
              <a:rPr lang="ru-RU" altLang="en-US" sz="2400">
                <a:solidFill>
                  <a:schemeClr val="tx1"/>
                </a:solidFill>
              </a:rPr>
              <a:t>М</a:t>
            </a:r>
            <a:r>
              <a:rPr lang="en-US" altLang="zh-CN" sz="2400">
                <a:solidFill>
                  <a:schemeClr val="tx1"/>
                </a:solidFill>
              </a:rPr>
              <a:t>узыкальные характеристики треков</a:t>
            </a:r>
            <a:endParaRPr lang="en-US" altLang="zh-CN" sz="2400">
              <a:solidFill>
                <a:schemeClr val="tx1"/>
              </a:solidFill>
            </a:endParaRPr>
          </a:p>
          <a:p>
            <a:pPr marL="342900" indent="-342900" algn="ctr">
              <a:lnSpc>
                <a:spcPct val="120000"/>
              </a:lnSpc>
              <a:buFont typeface="Wingdings" panose="05000000000000000000" charset="0"/>
              <a:buChar char="è"/>
            </a:pPr>
            <a:r>
              <a:rPr lang="en-US" altLang="en-US" sz="2400">
                <a:solidFill>
                  <a:schemeClr val="tx1"/>
                </a:solidFill>
              </a:rPr>
              <a:t>Пользовательские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предпочтения</a:t>
            </a:r>
            <a:r>
              <a:rPr lang="en-US" altLang="ru-RU" sz="2400">
                <a:solidFill>
                  <a:schemeClr val="tx1"/>
                </a:solidFill>
              </a:rPr>
              <a:t> (</a:t>
            </a:r>
            <a:r>
              <a:rPr lang="en-US" altLang="en-US" sz="2400">
                <a:solidFill>
                  <a:schemeClr val="tx1"/>
                </a:solidFill>
              </a:rPr>
              <a:t>жанр</a:t>
            </a:r>
            <a:r>
              <a:rPr lang="en-US" altLang="ru-RU" sz="2400">
                <a:solidFill>
                  <a:schemeClr val="tx1"/>
                </a:solidFill>
              </a:rPr>
              <a:t>, </a:t>
            </a:r>
            <a:r>
              <a:rPr lang="en-US" altLang="en-US" sz="2400">
                <a:solidFill>
                  <a:schemeClr val="tx1"/>
                </a:solidFill>
              </a:rPr>
              <a:t>артисты</a:t>
            </a:r>
            <a:r>
              <a:rPr lang="en-US" altLang="ru-RU" sz="2400">
                <a:solidFill>
                  <a:schemeClr val="tx1"/>
                </a:solidFill>
              </a:rPr>
              <a:t>, </a:t>
            </a:r>
            <a:r>
              <a:rPr lang="en-US" altLang="en-US" sz="2400">
                <a:solidFill>
                  <a:schemeClr val="tx1"/>
                </a:solidFill>
              </a:rPr>
              <a:t>энергичность</a:t>
            </a:r>
            <a:r>
              <a:rPr lang="en-US" altLang="ru-RU" sz="2400">
                <a:solidFill>
                  <a:schemeClr val="tx1"/>
                </a:solidFill>
              </a:rPr>
              <a:t>)</a:t>
            </a:r>
            <a:endParaRPr lang="en-US" altLang="ru-RU" sz="2400">
              <a:solidFill>
                <a:schemeClr val="tx1"/>
              </a:solidFill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362065" y="2387600"/>
            <a:ext cx="5040630" cy="280987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ctr">
              <a:lnSpc>
                <a:spcPct val="130000"/>
              </a:lnSpc>
              <a:buFont typeface="Wingdings" panose="05000000000000000000" charset="0"/>
              <a:buChar char="è"/>
            </a:pPr>
            <a:r>
              <a:rPr lang="ru-RU" altLang="en-US" sz="2400">
                <a:solidFill>
                  <a:schemeClr val="tx1"/>
                </a:solidFill>
              </a:rPr>
              <a:t>Н</a:t>
            </a:r>
            <a:r>
              <a:rPr lang="en-US" altLang="en-US" sz="2400">
                <a:solidFill>
                  <a:schemeClr val="tx1"/>
                </a:solidFill>
              </a:rPr>
              <a:t>ейросетевая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модель</a:t>
            </a:r>
            <a:r>
              <a:rPr lang="en-US" altLang="ru-RU" sz="2400">
                <a:solidFill>
                  <a:schemeClr val="tx1"/>
                </a:solidFill>
              </a:rPr>
              <a:t> MatchNet</a:t>
            </a:r>
            <a:endParaRPr lang="ru-RU" altLang="en-US" sz="2400">
              <a:solidFill>
                <a:schemeClr val="tx1"/>
              </a:solidFill>
            </a:endParaRPr>
          </a:p>
          <a:p>
            <a:pPr marL="342900" indent="-342900" algn="ctr">
              <a:lnSpc>
                <a:spcPct val="130000"/>
              </a:lnSpc>
              <a:buFont typeface="Wingdings" panose="05000000000000000000" charset="0"/>
              <a:buChar char="è"/>
            </a:pPr>
            <a:r>
              <a:rPr lang="ru-RU" altLang="en-US" sz="2400">
                <a:solidFill>
                  <a:schemeClr val="tx1"/>
                </a:solidFill>
              </a:rPr>
              <a:t>Б</a:t>
            </a:r>
            <a:r>
              <a:rPr lang="en-US" altLang="en-US" sz="2400">
                <a:solidFill>
                  <a:schemeClr val="tx1"/>
                </a:solidFill>
              </a:rPr>
              <a:t>азовая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эвристическая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оценка</a:t>
            </a:r>
            <a:endParaRPr lang="en-US" altLang="ru-RU" sz="2400">
              <a:solidFill>
                <a:schemeClr val="tx1"/>
              </a:solidFill>
            </a:endParaRPr>
          </a:p>
          <a:p>
            <a:pPr marL="342900" indent="-342900" algn="ctr">
              <a:lnSpc>
                <a:spcPct val="130000"/>
              </a:lnSpc>
              <a:buFont typeface="Wingdings" panose="05000000000000000000" charset="0"/>
              <a:buChar char="è"/>
            </a:pPr>
            <a:r>
              <a:rPr lang="ru-RU" altLang="en-US" sz="2400">
                <a:solidFill>
                  <a:schemeClr val="tx1"/>
                </a:solidFill>
              </a:rPr>
              <a:t>О</a:t>
            </a:r>
            <a:r>
              <a:rPr lang="en-US" altLang="en-US" sz="2400">
                <a:solidFill>
                  <a:schemeClr val="tx1"/>
                </a:solidFill>
              </a:rPr>
              <a:t>бъединение</a:t>
            </a:r>
            <a:r>
              <a:rPr lang="en-US" altLang="ru-RU" sz="2400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результатов</a:t>
            </a:r>
            <a:br>
              <a: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5"/>
          <p:cNvSpPr>
            <a:spLocks noGrp="1"/>
          </p:cNvSpPr>
          <p:nvPr/>
        </p:nvSpPr>
        <p:spPr>
          <a:xfrm>
            <a:off x="336000" y="150528"/>
            <a:ext cx="11520000" cy="258508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altLang="en-US" sz="2800">
                <a:sym typeface="+mn-ea"/>
              </a:rPr>
              <a:t>Используемые</a:t>
            </a:r>
            <a:r>
              <a:rPr altLang="ru-RU" sz="2800">
                <a:sym typeface="+mn-ea"/>
              </a:rPr>
              <a:t> </a:t>
            </a:r>
            <a:r>
              <a:rPr altLang="en-US" sz="2800">
                <a:sym typeface="+mn-ea"/>
              </a:rPr>
              <a:t>языки</a:t>
            </a:r>
            <a:r>
              <a:rPr altLang="ru-RU" sz="2800">
                <a:sym typeface="+mn-ea"/>
              </a:rPr>
              <a:t> </a:t>
            </a:r>
            <a:r>
              <a:rPr altLang="en-US" sz="2800">
                <a:sym typeface="+mn-ea"/>
              </a:rPr>
              <a:t>и</a:t>
            </a:r>
            <a:r>
              <a:rPr altLang="ru-RU" sz="2800">
                <a:sym typeface="+mn-ea"/>
              </a:rPr>
              <a:t> </a:t>
            </a:r>
            <a:r>
              <a:rPr altLang="en-US" sz="2800">
                <a:sym typeface="+mn-ea"/>
              </a:rPr>
              <a:t>технологии</a:t>
            </a:r>
            <a:br>
              <a:rPr altLang="en-US" sz="2800">
                <a:sym typeface="+mn-ea"/>
              </a:rPr>
            </a:b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b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sz="2800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文本框 5"/>
          <p:cNvSpPr txBox="1"/>
          <p:nvPr>
            <p:custDataLst>
              <p:tags r:id="rId1"/>
            </p:custDataLst>
          </p:nvPr>
        </p:nvSpPr>
        <p:spPr>
          <a:xfrm>
            <a:off x="3445510" y="1706880"/>
            <a:ext cx="5300980" cy="611505"/>
          </a:xfrm>
          <a:prstGeom prst="rect">
            <a:avLst/>
          </a:prstGeom>
          <a:noFill/>
        </p:spPr>
        <p:txBody>
          <a:bodyPr wrap="square" rtlCol="0"/>
          <a:lstStyle/>
          <a:p>
            <a:pPr algn="dist"/>
            <a:r>
              <a:rPr lang="en-US" altLang="ru-RU" sz="2400" b="1" spc="-300" dirty="0" smtClean="0">
                <a:solidFill>
                  <a:schemeClr val="accent5"/>
                </a:solidFill>
                <a:uFillTx/>
                <a:ea typeface="Arial" panose="020B0604020202020204" pitchFamily="34" charset="0"/>
                <a:cs typeface="+mn-lt"/>
              </a:rPr>
              <a:t>NumPy, Pandas</a:t>
            </a:r>
            <a:r>
              <a:rPr lang="en-US" altLang="ru-RU" sz="2400" spc="-300" dirty="0" smtClean="0">
                <a:solidFill>
                  <a:schemeClr val="accent5"/>
                </a:solidFill>
                <a:uFillTx/>
                <a:ea typeface="Arial" panose="020B0604020202020204" pitchFamily="34" charset="0"/>
                <a:cs typeface="+mn-lt"/>
              </a:rPr>
              <a:t> 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—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обработка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данных</a:t>
            </a:r>
            <a:endParaRPr lang="ru-RU" altLang="en-US" sz="2400" spc="-3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ea typeface="Arial" panose="020B0604020202020204" pitchFamily="34" charset="0"/>
              <a:cs typeface="+mn-lt"/>
            </a:endParaRPr>
          </a:p>
        </p:txBody>
      </p:sp>
      <p:sp>
        <p:nvSpPr>
          <p:cNvPr id="20" name="文本框 17"/>
          <p:cNvSpPr txBox="1"/>
          <p:nvPr>
            <p:custDataLst>
              <p:tags r:id="rId2"/>
            </p:custDataLst>
          </p:nvPr>
        </p:nvSpPr>
        <p:spPr>
          <a:xfrm>
            <a:off x="3445510" y="2752725"/>
            <a:ext cx="6505575" cy="398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ru-RU" sz="2400" b="1" spc="-300" dirty="0" smtClean="0">
                <a:solidFill>
                  <a:schemeClr val="accent5"/>
                </a:solidFill>
                <a:uFillTx/>
                <a:ea typeface="Arial" panose="020B0604020202020204" pitchFamily="34" charset="0"/>
                <a:cs typeface="+mn-lt"/>
              </a:rPr>
              <a:t>SciPy 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—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фильтрация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и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анализ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Arial" panose="020B0604020202020204" pitchFamily="34" charset="0"/>
                <a:cs typeface="+mn-lt"/>
              </a:rPr>
              <a:t>сигналов</a:t>
            </a:r>
            <a:endParaRPr lang="en-US" altLang="en-US" sz="2400" spc="-3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ea typeface="Arial" panose="020B0604020202020204" pitchFamily="34" charset="0"/>
              <a:cs typeface="+mn-lt"/>
            </a:endParaRPr>
          </a:p>
        </p:txBody>
      </p:sp>
      <p:sp>
        <p:nvSpPr>
          <p:cNvPr id="22" name="文本框 23"/>
          <p:cNvSpPr txBox="1"/>
          <p:nvPr>
            <p:custDataLst>
              <p:tags r:id="rId3"/>
            </p:custDataLst>
          </p:nvPr>
        </p:nvSpPr>
        <p:spPr>
          <a:xfrm>
            <a:off x="3445510" y="3798570"/>
            <a:ext cx="6872605" cy="398780"/>
          </a:xfrm>
          <a:prstGeom prst="rect">
            <a:avLst/>
          </a:prstGeom>
          <a:noFill/>
        </p:spPr>
        <p:txBody>
          <a:bodyPr wrap="square" rtlCol="0"/>
          <a:lstStyle/>
          <a:p>
            <a:pPr algn="dist"/>
            <a:r>
              <a:rPr lang="en-US" altLang="ru-RU" sz="2400" b="1" spc="-300" dirty="0" smtClean="0">
                <a:solidFill>
                  <a:schemeClr val="accent5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PyTorch 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реализация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нейросетевой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модел</a:t>
            </a:r>
            <a:r>
              <a:rPr lang="ru-RU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и</a:t>
            </a:r>
            <a:endParaRPr lang="ru-RU" altLang="en-US" sz="2400" spc="-3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5"/>
          <p:cNvSpPr txBox="1"/>
          <p:nvPr>
            <p:custDataLst>
              <p:tags r:id="rId4"/>
            </p:custDataLst>
          </p:nvPr>
        </p:nvSpPr>
        <p:spPr>
          <a:xfrm>
            <a:off x="3445510" y="4741545"/>
            <a:ext cx="5848350" cy="610870"/>
          </a:xfrm>
          <a:prstGeom prst="rect">
            <a:avLst/>
          </a:prstGeom>
          <a:noFill/>
        </p:spPr>
        <p:txBody>
          <a:bodyPr wrap="square" rtlCol="0"/>
          <a:lstStyle/>
          <a:p>
            <a:pPr algn="dist"/>
            <a:r>
              <a:rPr lang="en-US" altLang="ru-RU" sz="2400" b="1" spc="-300" dirty="0" smtClean="0">
                <a:solidFill>
                  <a:schemeClr val="accent5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Streamlit 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пользовательский</a:t>
            </a:r>
            <a:r>
              <a:rPr lang="en-US" altLang="ru-RU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spc="-3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интерфейс</a:t>
            </a:r>
            <a:endParaRPr lang="en-US" altLang="en-US" sz="2400" spc="-3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Рисунок 4"/>
          <p:cNvGrpSpPr/>
          <p:nvPr/>
        </p:nvGrpSpPr>
        <p:grpSpPr>
          <a:xfrm>
            <a:off x="2729230" y="1602105"/>
            <a:ext cx="650875" cy="681355"/>
            <a:chOff x="2905712" y="2493093"/>
            <a:chExt cx="785393" cy="785393"/>
          </a:xfrm>
        </p:grpSpPr>
        <p:sp>
          <p:nvSpPr>
            <p:cNvPr id="30" name="Полилиния: фигура 55"/>
            <p:cNvSpPr/>
            <p:nvPr/>
          </p:nvSpPr>
          <p:spPr>
            <a:xfrm>
              <a:off x="2905712" y="2493093"/>
              <a:ext cx="785393" cy="785393"/>
            </a:xfrm>
            <a:custGeom>
              <a:avLst/>
              <a:gdLst>
                <a:gd name="connsiteX0" fmla="*/ 392963 w 785393"/>
                <a:gd name="connsiteY0" fmla="*/ 0 h 785393"/>
                <a:gd name="connsiteX1" fmla="*/ 785393 w 785393"/>
                <a:gd name="connsiteY1" fmla="*/ 392963 h 785393"/>
                <a:gd name="connsiteX2" fmla="*/ 392430 w 785393"/>
                <a:gd name="connsiteY2" fmla="*/ 785393 h 785393"/>
                <a:gd name="connsiteX3" fmla="*/ 0 w 785393"/>
                <a:gd name="connsiteY3" fmla="*/ 392697 h 785393"/>
                <a:gd name="connsiteX4" fmla="*/ 392963 w 785393"/>
                <a:gd name="connsiteY4" fmla="*/ 0 h 78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393" h="785393">
                  <a:moveTo>
                    <a:pt x="392963" y="0"/>
                  </a:moveTo>
                  <a:cubicBezTo>
                    <a:pt x="609848" y="143"/>
                    <a:pt x="785546" y="176079"/>
                    <a:pt x="785393" y="392963"/>
                  </a:cubicBezTo>
                  <a:cubicBezTo>
                    <a:pt x="785251" y="609838"/>
                    <a:pt x="609314" y="785546"/>
                    <a:pt x="392430" y="785393"/>
                  </a:cubicBezTo>
                  <a:cubicBezTo>
                    <a:pt x="175660" y="785251"/>
                    <a:pt x="0" y="609476"/>
                    <a:pt x="0" y="392697"/>
                  </a:cubicBezTo>
                  <a:cubicBezTo>
                    <a:pt x="86" y="175746"/>
                    <a:pt x="176012" y="-57"/>
                    <a:pt x="392963" y="0"/>
                  </a:cubicBezTo>
                  <a:close/>
                </a:path>
              </a:pathLst>
            </a:custGeom>
            <a:solidFill>
              <a:srgbClr val="3164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: фигура 56"/>
            <p:cNvSpPr/>
            <p:nvPr/>
          </p:nvSpPr>
          <p:spPr>
            <a:xfrm>
              <a:off x="3130245" y="2725855"/>
              <a:ext cx="336327" cy="319868"/>
            </a:xfrm>
            <a:custGeom>
              <a:avLst/>
              <a:gdLst>
                <a:gd name="connsiteX0" fmla="*/ 168164 w 336327"/>
                <a:gd name="connsiteY0" fmla="*/ 0 h 319868"/>
                <a:gd name="connsiteX1" fmla="*/ 207864 w 336327"/>
                <a:gd name="connsiteY1" fmla="*/ 122177 h 319868"/>
                <a:gd name="connsiteX2" fmla="*/ 336328 w 336327"/>
                <a:gd name="connsiteY2" fmla="*/ 122177 h 319868"/>
                <a:gd name="connsiteX3" fmla="*/ 232401 w 336327"/>
                <a:gd name="connsiteY3" fmla="*/ 197691 h 319868"/>
                <a:gd name="connsiteX4" fmla="*/ 272101 w 336327"/>
                <a:gd name="connsiteY4" fmla="*/ 319868 h 319868"/>
                <a:gd name="connsiteX5" fmla="*/ 168164 w 336327"/>
                <a:gd name="connsiteY5" fmla="*/ 244354 h 319868"/>
                <a:gd name="connsiteX6" fmla="*/ 64237 w 336327"/>
                <a:gd name="connsiteY6" fmla="*/ 319868 h 319868"/>
                <a:gd name="connsiteX7" fmla="*/ 103937 w 336327"/>
                <a:gd name="connsiteY7" fmla="*/ 197691 h 319868"/>
                <a:gd name="connsiteX8" fmla="*/ 0 w 336327"/>
                <a:gd name="connsiteY8" fmla="*/ 122177 h 319868"/>
                <a:gd name="connsiteX9" fmla="*/ 128473 w 336327"/>
                <a:gd name="connsiteY9" fmla="*/ 122177 h 3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327" h="319868">
                  <a:moveTo>
                    <a:pt x="168164" y="0"/>
                  </a:moveTo>
                  <a:lnTo>
                    <a:pt x="207864" y="122177"/>
                  </a:lnTo>
                  <a:lnTo>
                    <a:pt x="336328" y="122177"/>
                  </a:lnTo>
                  <a:lnTo>
                    <a:pt x="232401" y="197691"/>
                  </a:lnTo>
                  <a:lnTo>
                    <a:pt x="272101" y="319868"/>
                  </a:lnTo>
                  <a:lnTo>
                    <a:pt x="168164" y="244354"/>
                  </a:lnTo>
                  <a:lnTo>
                    <a:pt x="64237" y="319868"/>
                  </a:lnTo>
                  <a:lnTo>
                    <a:pt x="103937" y="197691"/>
                  </a:lnTo>
                  <a:lnTo>
                    <a:pt x="0" y="122177"/>
                  </a:lnTo>
                  <a:lnTo>
                    <a:pt x="128473" y="122177"/>
                  </a:lnTo>
                  <a:close/>
                </a:path>
              </a:pathLst>
            </a:custGeom>
            <a:noFill/>
            <a:ln w="18372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Полилиния: фигура 57"/>
            <p:cNvSpPr/>
            <p:nvPr/>
          </p:nvSpPr>
          <p:spPr>
            <a:xfrm>
              <a:off x="3007582" y="2594953"/>
              <a:ext cx="581663" cy="581663"/>
            </a:xfrm>
            <a:custGeom>
              <a:avLst/>
              <a:gdLst>
                <a:gd name="connsiteX0" fmla="*/ 291027 w 581663"/>
                <a:gd name="connsiteY0" fmla="*/ 0 h 581663"/>
                <a:gd name="connsiteX1" fmla="*/ 581663 w 581663"/>
                <a:gd name="connsiteY1" fmla="*/ 291036 h 581663"/>
                <a:gd name="connsiteX2" fmla="*/ 290636 w 581663"/>
                <a:gd name="connsiteY2" fmla="*/ 581663 h 581663"/>
                <a:gd name="connsiteX3" fmla="*/ 0 w 581663"/>
                <a:gd name="connsiteY3" fmla="*/ 290836 h 581663"/>
                <a:gd name="connsiteX4" fmla="*/ 291027 w 581663"/>
                <a:gd name="connsiteY4" fmla="*/ 0 h 58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663" h="581663">
                  <a:moveTo>
                    <a:pt x="291027" y="0"/>
                  </a:moveTo>
                  <a:cubicBezTo>
                    <a:pt x="451647" y="114"/>
                    <a:pt x="581768" y="130407"/>
                    <a:pt x="581663" y="291036"/>
                  </a:cubicBezTo>
                  <a:cubicBezTo>
                    <a:pt x="581549" y="451656"/>
                    <a:pt x="451256" y="581778"/>
                    <a:pt x="290636" y="581663"/>
                  </a:cubicBezTo>
                  <a:cubicBezTo>
                    <a:pt x="130092" y="581558"/>
                    <a:pt x="0" y="451380"/>
                    <a:pt x="0" y="290836"/>
                  </a:cubicBezTo>
                  <a:cubicBezTo>
                    <a:pt x="67" y="130169"/>
                    <a:pt x="130359" y="-38"/>
                    <a:pt x="291027" y="0"/>
                  </a:cubicBezTo>
                  <a:close/>
                </a:path>
              </a:pathLst>
            </a:custGeom>
            <a:noFill/>
            <a:ln w="18372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3" name="Рисунок 4"/>
          <p:cNvGrpSpPr/>
          <p:nvPr/>
        </p:nvGrpSpPr>
        <p:grpSpPr>
          <a:xfrm>
            <a:off x="2724785" y="2663825"/>
            <a:ext cx="667385" cy="683895"/>
            <a:chOff x="2905712" y="2493093"/>
            <a:chExt cx="785393" cy="785393"/>
          </a:xfrm>
        </p:grpSpPr>
        <p:sp>
          <p:nvSpPr>
            <p:cNvPr id="34" name="Полилиния: фигура 199"/>
            <p:cNvSpPr/>
            <p:nvPr/>
          </p:nvSpPr>
          <p:spPr>
            <a:xfrm>
              <a:off x="2905712" y="2493093"/>
              <a:ext cx="785393" cy="785393"/>
            </a:xfrm>
            <a:custGeom>
              <a:avLst/>
              <a:gdLst>
                <a:gd name="connsiteX0" fmla="*/ 392963 w 785393"/>
                <a:gd name="connsiteY0" fmla="*/ 0 h 785393"/>
                <a:gd name="connsiteX1" fmla="*/ 785393 w 785393"/>
                <a:gd name="connsiteY1" fmla="*/ 392963 h 785393"/>
                <a:gd name="connsiteX2" fmla="*/ 392430 w 785393"/>
                <a:gd name="connsiteY2" fmla="*/ 785393 h 785393"/>
                <a:gd name="connsiteX3" fmla="*/ 0 w 785393"/>
                <a:gd name="connsiteY3" fmla="*/ 392697 h 785393"/>
                <a:gd name="connsiteX4" fmla="*/ 392963 w 785393"/>
                <a:gd name="connsiteY4" fmla="*/ 0 h 78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393" h="785393">
                  <a:moveTo>
                    <a:pt x="392963" y="0"/>
                  </a:moveTo>
                  <a:cubicBezTo>
                    <a:pt x="609848" y="143"/>
                    <a:pt x="785546" y="176079"/>
                    <a:pt x="785393" y="392963"/>
                  </a:cubicBezTo>
                  <a:cubicBezTo>
                    <a:pt x="785251" y="609838"/>
                    <a:pt x="609314" y="785546"/>
                    <a:pt x="392430" y="785393"/>
                  </a:cubicBezTo>
                  <a:cubicBezTo>
                    <a:pt x="175660" y="785251"/>
                    <a:pt x="0" y="609476"/>
                    <a:pt x="0" y="392697"/>
                  </a:cubicBezTo>
                  <a:cubicBezTo>
                    <a:pt x="86" y="175746"/>
                    <a:pt x="176012" y="-57"/>
                    <a:pt x="39296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Полилиния: фигура 200"/>
            <p:cNvSpPr/>
            <p:nvPr/>
          </p:nvSpPr>
          <p:spPr>
            <a:xfrm>
              <a:off x="3130245" y="2725855"/>
              <a:ext cx="336327" cy="319868"/>
            </a:xfrm>
            <a:custGeom>
              <a:avLst/>
              <a:gdLst>
                <a:gd name="connsiteX0" fmla="*/ 168164 w 336327"/>
                <a:gd name="connsiteY0" fmla="*/ 0 h 319868"/>
                <a:gd name="connsiteX1" fmla="*/ 207864 w 336327"/>
                <a:gd name="connsiteY1" fmla="*/ 122177 h 319868"/>
                <a:gd name="connsiteX2" fmla="*/ 336328 w 336327"/>
                <a:gd name="connsiteY2" fmla="*/ 122177 h 319868"/>
                <a:gd name="connsiteX3" fmla="*/ 232401 w 336327"/>
                <a:gd name="connsiteY3" fmla="*/ 197691 h 319868"/>
                <a:gd name="connsiteX4" fmla="*/ 272101 w 336327"/>
                <a:gd name="connsiteY4" fmla="*/ 319868 h 319868"/>
                <a:gd name="connsiteX5" fmla="*/ 168164 w 336327"/>
                <a:gd name="connsiteY5" fmla="*/ 244354 h 319868"/>
                <a:gd name="connsiteX6" fmla="*/ 64237 w 336327"/>
                <a:gd name="connsiteY6" fmla="*/ 319868 h 319868"/>
                <a:gd name="connsiteX7" fmla="*/ 103937 w 336327"/>
                <a:gd name="connsiteY7" fmla="*/ 197691 h 319868"/>
                <a:gd name="connsiteX8" fmla="*/ 0 w 336327"/>
                <a:gd name="connsiteY8" fmla="*/ 122177 h 319868"/>
                <a:gd name="connsiteX9" fmla="*/ 128473 w 336327"/>
                <a:gd name="connsiteY9" fmla="*/ 122177 h 3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327" h="319868">
                  <a:moveTo>
                    <a:pt x="168164" y="0"/>
                  </a:moveTo>
                  <a:lnTo>
                    <a:pt x="207864" y="122177"/>
                  </a:lnTo>
                  <a:lnTo>
                    <a:pt x="336328" y="122177"/>
                  </a:lnTo>
                  <a:lnTo>
                    <a:pt x="232401" y="197691"/>
                  </a:lnTo>
                  <a:lnTo>
                    <a:pt x="272101" y="319868"/>
                  </a:lnTo>
                  <a:lnTo>
                    <a:pt x="168164" y="244354"/>
                  </a:lnTo>
                  <a:lnTo>
                    <a:pt x="64237" y="319868"/>
                  </a:lnTo>
                  <a:lnTo>
                    <a:pt x="103937" y="197691"/>
                  </a:lnTo>
                  <a:lnTo>
                    <a:pt x="0" y="122177"/>
                  </a:lnTo>
                  <a:lnTo>
                    <a:pt x="128473" y="122177"/>
                  </a:lnTo>
                  <a:close/>
                </a:path>
              </a:pathLst>
            </a:custGeom>
            <a:noFill/>
            <a:ln w="18372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Полилиния: фигура 201"/>
            <p:cNvSpPr/>
            <p:nvPr/>
          </p:nvSpPr>
          <p:spPr>
            <a:xfrm>
              <a:off x="3007582" y="2594953"/>
              <a:ext cx="581663" cy="581663"/>
            </a:xfrm>
            <a:custGeom>
              <a:avLst/>
              <a:gdLst>
                <a:gd name="connsiteX0" fmla="*/ 291027 w 581663"/>
                <a:gd name="connsiteY0" fmla="*/ 0 h 581663"/>
                <a:gd name="connsiteX1" fmla="*/ 581663 w 581663"/>
                <a:gd name="connsiteY1" fmla="*/ 291036 h 581663"/>
                <a:gd name="connsiteX2" fmla="*/ 290636 w 581663"/>
                <a:gd name="connsiteY2" fmla="*/ 581663 h 581663"/>
                <a:gd name="connsiteX3" fmla="*/ 0 w 581663"/>
                <a:gd name="connsiteY3" fmla="*/ 290836 h 581663"/>
                <a:gd name="connsiteX4" fmla="*/ 291027 w 581663"/>
                <a:gd name="connsiteY4" fmla="*/ 0 h 58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663" h="581663">
                  <a:moveTo>
                    <a:pt x="291027" y="0"/>
                  </a:moveTo>
                  <a:cubicBezTo>
                    <a:pt x="451647" y="114"/>
                    <a:pt x="581768" y="130407"/>
                    <a:pt x="581663" y="291036"/>
                  </a:cubicBezTo>
                  <a:cubicBezTo>
                    <a:pt x="581549" y="451656"/>
                    <a:pt x="451256" y="581778"/>
                    <a:pt x="290636" y="581663"/>
                  </a:cubicBezTo>
                  <a:cubicBezTo>
                    <a:pt x="130092" y="581558"/>
                    <a:pt x="0" y="451380"/>
                    <a:pt x="0" y="290836"/>
                  </a:cubicBezTo>
                  <a:cubicBezTo>
                    <a:pt x="67" y="130169"/>
                    <a:pt x="130359" y="-38"/>
                    <a:pt x="291027" y="0"/>
                  </a:cubicBezTo>
                  <a:close/>
                </a:path>
              </a:pathLst>
            </a:custGeom>
            <a:noFill/>
            <a:ln w="18372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7" name="Рисунок 4"/>
          <p:cNvGrpSpPr/>
          <p:nvPr/>
        </p:nvGrpSpPr>
        <p:grpSpPr>
          <a:xfrm>
            <a:off x="2736850" y="3719830"/>
            <a:ext cx="650875" cy="681355"/>
            <a:chOff x="2905712" y="2493093"/>
            <a:chExt cx="785393" cy="785393"/>
          </a:xfrm>
        </p:grpSpPr>
        <p:sp>
          <p:nvSpPr>
            <p:cNvPr id="38" name="Полилиния: фигура 55"/>
            <p:cNvSpPr/>
            <p:nvPr/>
          </p:nvSpPr>
          <p:spPr>
            <a:xfrm>
              <a:off x="2905712" y="2493093"/>
              <a:ext cx="785393" cy="785393"/>
            </a:xfrm>
            <a:custGeom>
              <a:avLst/>
              <a:gdLst>
                <a:gd name="connsiteX0" fmla="*/ 392963 w 785393"/>
                <a:gd name="connsiteY0" fmla="*/ 0 h 785393"/>
                <a:gd name="connsiteX1" fmla="*/ 785393 w 785393"/>
                <a:gd name="connsiteY1" fmla="*/ 392963 h 785393"/>
                <a:gd name="connsiteX2" fmla="*/ 392430 w 785393"/>
                <a:gd name="connsiteY2" fmla="*/ 785393 h 785393"/>
                <a:gd name="connsiteX3" fmla="*/ 0 w 785393"/>
                <a:gd name="connsiteY3" fmla="*/ 392697 h 785393"/>
                <a:gd name="connsiteX4" fmla="*/ 392963 w 785393"/>
                <a:gd name="connsiteY4" fmla="*/ 0 h 78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393" h="785393">
                  <a:moveTo>
                    <a:pt x="392963" y="0"/>
                  </a:moveTo>
                  <a:cubicBezTo>
                    <a:pt x="609848" y="143"/>
                    <a:pt x="785546" y="176079"/>
                    <a:pt x="785393" y="392963"/>
                  </a:cubicBezTo>
                  <a:cubicBezTo>
                    <a:pt x="785251" y="609838"/>
                    <a:pt x="609314" y="785546"/>
                    <a:pt x="392430" y="785393"/>
                  </a:cubicBezTo>
                  <a:cubicBezTo>
                    <a:pt x="175660" y="785251"/>
                    <a:pt x="0" y="609476"/>
                    <a:pt x="0" y="392697"/>
                  </a:cubicBezTo>
                  <a:cubicBezTo>
                    <a:pt x="86" y="175746"/>
                    <a:pt x="176012" y="-57"/>
                    <a:pt x="392963" y="0"/>
                  </a:cubicBezTo>
                  <a:close/>
                </a:path>
              </a:pathLst>
            </a:custGeom>
            <a:solidFill>
              <a:srgbClr val="3164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Полилиния: фигура 56"/>
            <p:cNvSpPr/>
            <p:nvPr/>
          </p:nvSpPr>
          <p:spPr>
            <a:xfrm>
              <a:off x="3130245" y="2725855"/>
              <a:ext cx="336327" cy="319868"/>
            </a:xfrm>
            <a:custGeom>
              <a:avLst/>
              <a:gdLst>
                <a:gd name="connsiteX0" fmla="*/ 168164 w 336327"/>
                <a:gd name="connsiteY0" fmla="*/ 0 h 319868"/>
                <a:gd name="connsiteX1" fmla="*/ 207864 w 336327"/>
                <a:gd name="connsiteY1" fmla="*/ 122177 h 319868"/>
                <a:gd name="connsiteX2" fmla="*/ 336328 w 336327"/>
                <a:gd name="connsiteY2" fmla="*/ 122177 h 319868"/>
                <a:gd name="connsiteX3" fmla="*/ 232401 w 336327"/>
                <a:gd name="connsiteY3" fmla="*/ 197691 h 319868"/>
                <a:gd name="connsiteX4" fmla="*/ 272101 w 336327"/>
                <a:gd name="connsiteY4" fmla="*/ 319868 h 319868"/>
                <a:gd name="connsiteX5" fmla="*/ 168164 w 336327"/>
                <a:gd name="connsiteY5" fmla="*/ 244354 h 319868"/>
                <a:gd name="connsiteX6" fmla="*/ 64237 w 336327"/>
                <a:gd name="connsiteY6" fmla="*/ 319868 h 319868"/>
                <a:gd name="connsiteX7" fmla="*/ 103937 w 336327"/>
                <a:gd name="connsiteY7" fmla="*/ 197691 h 319868"/>
                <a:gd name="connsiteX8" fmla="*/ 0 w 336327"/>
                <a:gd name="connsiteY8" fmla="*/ 122177 h 319868"/>
                <a:gd name="connsiteX9" fmla="*/ 128473 w 336327"/>
                <a:gd name="connsiteY9" fmla="*/ 122177 h 3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327" h="319868">
                  <a:moveTo>
                    <a:pt x="168164" y="0"/>
                  </a:moveTo>
                  <a:lnTo>
                    <a:pt x="207864" y="122177"/>
                  </a:lnTo>
                  <a:lnTo>
                    <a:pt x="336328" y="122177"/>
                  </a:lnTo>
                  <a:lnTo>
                    <a:pt x="232401" y="197691"/>
                  </a:lnTo>
                  <a:lnTo>
                    <a:pt x="272101" y="319868"/>
                  </a:lnTo>
                  <a:lnTo>
                    <a:pt x="168164" y="244354"/>
                  </a:lnTo>
                  <a:lnTo>
                    <a:pt x="64237" y="319868"/>
                  </a:lnTo>
                  <a:lnTo>
                    <a:pt x="103937" y="197691"/>
                  </a:lnTo>
                  <a:lnTo>
                    <a:pt x="0" y="122177"/>
                  </a:lnTo>
                  <a:lnTo>
                    <a:pt x="128473" y="122177"/>
                  </a:lnTo>
                  <a:close/>
                </a:path>
              </a:pathLst>
            </a:custGeom>
            <a:noFill/>
            <a:ln w="18372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: фигура 57"/>
            <p:cNvSpPr/>
            <p:nvPr/>
          </p:nvSpPr>
          <p:spPr>
            <a:xfrm>
              <a:off x="3007582" y="2594953"/>
              <a:ext cx="581663" cy="581663"/>
            </a:xfrm>
            <a:custGeom>
              <a:avLst/>
              <a:gdLst>
                <a:gd name="connsiteX0" fmla="*/ 291027 w 581663"/>
                <a:gd name="connsiteY0" fmla="*/ 0 h 581663"/>
                <a:gd name="connsiteX1" fmla="*/ 581663 w 581663"/>
                <a:gd name="connsiteY1" fmla="*/ 291036 h 581663"/>
                <a:gd name="connsiteX2" fmla="*/ 290636 w 581663"/>
                <a:gd name="connsiteY2" fmla="*/ 581663 h 581663"/>
                <a:gd name="connsiteX3" fmla="*/ 0 w 581663"/>
                <a:gd name="connsiteY3" fmla="*/ 290836 h 581663"/>
                <a:gd name="connsiteX4" fmla="*/ 291027 w 581663"/>
                <a:gd name="connsiteY4" fmla="*/ 0 h 58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663" h="581663">
                  <a:moveTo>
                    <a:pt x="291027" y="0"/>
                  </a:moveTo>
                  <a:cubicBezTo>
                    <a:pt x="451647" y="114"/>
                    <a:pt x="581768" y="130407"/>
                    <a:pt x="581663" y="291036"/>
                  </a:cubicBezTo>
                  <a:cubicBezTo>
                    <a:pt x="581549" y="451656"/>
                    <a:pt x="451256" y="581778"/>
                    <a:pt x="290636" y="581663"/>
                  </a:cubicBezTo>
                  <a:cubicBezTo>
                    <a:pt x="130092" y="581558"/>
                    <a:pt x="0" y="451380"/>
                    <a:pt x="0" y="290836"/>
                  </a:cubicBezTo>
                  <a:cubicBezTo>
                    <a:pt x="67" y="130169"/>
                    <a:pt x="130359" y="-38"/>
                    <a:pt x="291027" y="0"/>
                  </a:cubicBezTo>
                  <a:close/>
                </a:path>
              </a:pathLst>
            </a:custGeom>
            <a:noFill/>
            <a:ln w="18372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1" name="Рисунок 4"/>
          <p:cNvGrpSpPr/>
          <p:nvPr/>
        </p:nvGrpSpPr>
        <p:grpSpPr>
          <a:xfrm>
            <a:off x="2724785" y="4692650"/>
            <a:ext cx="667385" cy="683895"/>
            <a:chOff x="2905712" y="2493093"/>
            <a:chExt cx="785393" cy="785393"/>
          </a:xfrm>
        </p:grpSpPr>
        <p:sp>
          <p:nvSpPr>
            <p:cNvPr id="42" name="Полилиния: фигура 199"/>
            <p:cNvSpPr/>
            <p:nvPr/>
          </p:nvSpPr>
          <p:spPr>
            <a:xfrm>
              <a:off x="2905712" y="2493093"/>
              <a:ext cx="785393" cy="785393"/>
            </a:xfrm>
            <a:custGeom>
              <a:avLst/>
              <a:gdLst>
                <a:gd name="connsiteX0" fmla="*/ 392963 w 785393"/>
                <a:gd name="connsiteY0" fmla="*/ 0 h 785393"/>
                <a:gd name="connsiteX1" fmla="*/ 785393 w 785393"/>
                <a:gd name="connsiteY1" fmla="*/ 392963 h 785393"/>
                <a:gd name="connsiteX2" fmla="*/ 392430 w 785393"/>
                <a:gd name="connsiteY2" fmla="*/ 785393 h 785393"/>
                <a:gd name="connsiteX3" fmla="*/ 0 w 785393"/>
                <a:gd name="connsiteY3" fmla="*/ 392697 h 785393"/>
                <a:gd name="connsiteX4" fmla="*/ 392963 w 785393"/>
                <a:gd name="connsiteY4" fmla="*/ 0 h 78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393" h="785393">
                  <a:moveTo>
                    <a:pt x="392963" y="0"/>
                  </a:moveTo>
                  <a:cubicBezTo>
                    <a:pt x="609848" y="143"/>
                    <a:pt x="785546" y="176079"/>
                    <a:pt x="785393" y="392963"/>
                  </a:cubicBezTo>
                  <a:cubicBezTo>
                    <a:pt x="785251" y="609838"/>
                    <a:pt x="609314" y="785546"/>
                    <a:pt x="392430" y="785393"/>
                  </a:cubicBezTo>
                  <a:cubicBezTo>
                    <a:pt x="175660" y="785251"/>
                    <a:pt x="0" y="609476"/>
                    <a:pt x="0" y="392697"/>
                  </a:cubicBezTo>
                  <a:cubicBezTo>
                    <a:pt x="86" y="175746"/>
                    <a:pt x="176012" y="-57"/>
                    <a:pt x="39296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Полилиния: фигура 200"/>
            <p:cNvSpPr/>
            <p:nvPr/>
          </p:nvSpPr>
          <p:spPr>
            <a:xfrm>
              <a:off x="3130245" y="2725855"/>
              <a:ext cx="336327" cy="319868"/>
            </a:xfrm>
            <a:custGeom>
              <a:avLst/>
              <a:gdLst>
                <a:gd name="connsiteX0" fmla="*/ 168164 w 336327"/>
                <a:gd name="connsiteY0" fmla="*/ 0 h 319868"/>
                <a:gd name="connsiteX1" fmla="*/ 207864 w 336327"/>
                <a:gd name="connsiteY1" fmla="*/ 122177 h 319868"/>
                <a:gd name="connsiteX2" fmla="*/ 336328 w 336327"/>
                <a:gd name="connsiteY2" fmla="*/ 122177 h 319868"/>
                <a:gd name="connsiteX3" fmla="*/ 232401 w 336327"/>
                <a:gd name="connsiteY3" fmla="*/ 197691 h 319868"/>
                <a:gd name="connsiteX4" fmla="*/ 272101 w 336327"/>
                <a:gd name="connsiteY4" fmla="*/ 319868 h 319868"/>
                <a:gd name="connsiteX5" fmla="*/ 168164 w 336327"/>
                <a:gd name="connsiteY5" fmla="*/ 244354 h 319868"/>
                <a:gd name="connsiteX6" fmla="*/ 64237 w 336327"/>
                <a:gd name="connsiteY6" fmla="*/ 319868 h 319868"/>
                <a:gd name="connsiteX7" fmla="*/ 103937 w 336327"/>
                <a:gd name="connsiteY7" fmla="*/ 197691 h 319868"/>
                <a:gd name="connsiteX8" fmla="*/ 0 w 336327"/>
                <a:gd name="connsiteY8" fmla="*/ 122177 h 319868"/>
                <a:gd name="connsiteX9" fmla="*/ 128473 w 336327"/>
                <a:gd name="connsiteY9" fmla="*/ 122177 h 3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327" h="319868">
                  <a:moveTo>
                    <a:pt x="168164" y="0"/>
                  </a:moveTo>
                  <a:lnTo>
                    <a:pt x="207864" y="122177"/>
                  </a:lnTo>
                  <a:lnTo>
                    <a:pt x="336328" y="122177"/>
                  </a:lnTo>
                  <a:lnTo>
                    <a:pt x="232401" y="197691"/>
                  </a:lnTo>
                  <a:lnTo>
                    <a:pt x="272101" y="319868"/>
                  </a:lnTo>
                  <a:lnTo>
                    <a:pt x="168164" y="244354"/>
                  </a:lnTo>
                  <a:lnTo>
                    <a:pt x="64237" y="319868"/>
                  </a:lnTo>
                  <a:lnTo>
                    <a:pt x="103937" y="197691"/>
                  </a:lnTo>
                  <a:lnTo>
                    <a:pt x="0" y="122177"/>
                  </a:lnTo>
                  <a:lnTo>
                    <a:pt x="128473" y="122177"/>
                  </a:lnTo>
                  <a:close/>
                </a:path>
              </a:pathLst>
            </a:custGeom>
            <a:noFill/>
            <a:ln w="18372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Полилиния: фигура 201"/>
            <p:cNvSpPr/>
            <p:nvPr/>
          </p:nvSpPr>
          <p:spPr>
            <a:xfrm>
              <a:off x="3007582" y="2594953"/>
              <a:ext cx="581663" cy="581663"/>
            </a:xfrm>
            <a:custGeom>
              <a:avLst/>
              <a:gdLst>
                <a:gd name="connsiteX0" fmla="*/ 291027 w 581663"/>
                <a:gd name="connsiteY0" fmla="*/ 0 h 581663"/>
                <a:gd name="connsiteX1" fmla="*/ 581663 w 581663"/>
                <a:gd name="connsiteY1" fmla="*/ 291036 h 581663"/>
                <a:gd name="connsiteX2" fmla="*/ 290636 w 581663"/>
                <a:gd name="connsiteY2" fmla="*/ 581663 h 581663"/>
                <a:gd name="connsiteX3" fmla="*/ 0 w 581663"/>
                <a:gd name="connsiteY3" fmla="*/ 290836 h 581663"/>
                <a:gd name="connsiteX4" fmla="*/ 291027 w 581663"/>
                <a:gd name="connsiteY4" fmla="*/ 0 h 58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1663" h="581663">
                  <a:moveTo>
                    <a:pt x="291027" y="0"/>
                  </a:moveTo>
                  <a:cubicBezTo>
                    <a:pt x="451647" y="114"/>
                    <a:pt x="581768" y="130407"/>
                    <a:pt x="581663" y="291036"/>
                  </a:cubicBezTo>
                  <a:cubicBezTo>
                    <a:pt x="581549" y="451656"/>
                    <a:pt x="451256" y="581778"/>
                    <a:pt x="290636" y="581663"/>
                  </a:cubicBezTo>
                  <a:cubicBezTo>
                    <a:pt x="130092" y="581558"/>
                    <a:pt x="0" y="451380"/>
                    <a:pt x="0" y="290836"/>
                  </a:cubicBezTo>
                  <a:cubicBezTo>
                    <a:pt x="67" y="130169"/>
                    <a:pt x="130359" y="-38"/>
                    <a:pt x="291027" y="0"/>
                  </a:cubicBezTo>
                  <a:close/>
                </a:path>
              </a:pathLst>
            </a:custGeom>
            <a:noFill/>
            <a:ln w="18372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 descr="2.0"/>
          <p:cNvPicPr>
            <a:picLocks noChangeAspect="1"/>
          </p:cNvPicPr>
          <p:nvPr/>
        </p:nvPicPr>
        <p:blipFill>
          <a:blip r:embed="rId1"/>
          <a:srcRect r="723"/>
          <a:stretch>
            <a:fillRect/>
          </a:stretch>
        </p:blipFill>
        <p:spPr>
          <a:xfrm>
            <a:off x="880110" y="51435"/>
            <a:ext cx="1020572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5"/>
          <p:cNvSpPr>
            <a:spLocks noGrp="1"/>
          </p:cNvSpPr>
          <p:nvPr/>
        </p:nvSpPr>
        <p:spPr>
          <a:xfrm>
            <a:off x="336000" y="150528"/>
            <a:ext cx="11520000" cy="301625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altLang="en-US" sz="2800" smtClean="0">
                <a:sym typeface="+mn-ea"/>
              </a:rPr>
              <a:t>Расчёт</a:t>
            </a:r>
            <a:r>
              <a:rPr altLang="ru-RU" sz="2800" smtClean="0">
                <a:sym typeface="+mn-ea"/>
              </a:rPr>
              <a:t> </a:t>
            </a:r>
            <a:r>
              <a:rPr altLang="en-US" sz="2800" smtClean="0">
                <a:sym typeface="+mn-ea"/>
              </a:rPr>
              <a:t>надёжности</a:t>
            </a:r>
            <a:endParaRPr lang="en-US" altLang="en-US" sz="2800" smtClean="0"/>
          </a:p>
          <a:p>
            <a:pPr>
              <a:defRPr/>
            </a:pPr>
            <a:br>
              <a:rPr altLang="en-US" sz="2800">
                <a:sym typeface="+mn-ea"/>
              </a:rPr>
            </a:b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b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sz="2800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Изображение 6" descr="8_слайд_2.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7480" y="643255"/>
            <a:ext cx="9337040" cy="6214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5"/>
          <p:cNvSpPr>
            <a:spLocks noGrp="1"/>
          </p:cNvSpPr>
          <p:nvPr/>
        </p:nvSpPr>
        <p:spPr>
          <a:xfrm>
            <a:off x="336000" y="150528"/>
            <a:ext cx="11520000" cy="301625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2800" smtClean="0"/>
              <a:t>Демонстрация</a:t>
            </a:r>
            <a:r>
              <a:rPr lang="en-US" altLang="ru-RU" sz="2800" smtClean="0"/>
              <a:t> </a:t>
            </a:r>
            <a:r>
              <a:rPr lang="en-US" altLang="en-US" sz="2800" smtClean="0"/>
              <a:t>работы</a:t>
            </a:r>
            <a:r>
              <a:rPr lang="en-US" altLang="ru-RU" sz="2800" smtClean="0"/>
              <a:t> </a:t>
            </a:r>
            <a:r>
              <a:rPr lang="en-US" altLang="en-US" sz="2800" smtClean="0"/>
              <a:t>системы</a:t>
            </a:r>
            <a:endParaRPr lang="en-US" altLang="en-US" sz="2800" smtClean="0"/>
          </a:p>
          <a:p>
            <a:pPr>
              <a:defRPr/>
            </a:pPr>
            <a:br>
              <a:rPr altLang="en-US" sz="2800">
                <a:sym typeface="+mn-ea"/>
              </a:rPr>
            </a:b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b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sz="2800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85" y="770890"/>
            <a:ext cx="10856595" cy="5555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5"/>
          <p:cNvSpPr>
            <a:spLocks noGrp="1"/>
          </p:cNvSpPr>
          <p:nvPr/>
        </p:nvSpPr>
        <p:spPr>
          <a:xfrm>
            <a:off x="336000" y="150528"/>
            <a:ext cx="11520000" cy="34467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altLang="en-US" sz="2800" smtClean="0">
                <a:sym typeface="+mn-ea"/>
              </a:rPr>
              <a:t>Перспективы</a:t>
            </a:r>
            <a:r>
              <a:rPr altLang="ru-RU" sz="2800" smtClean="0">
                <a:sym typeface="+mn-ea"/>
              </a:rPr>
              <a:t> </a:t>
            </a:r>
            <a:r>
              <a:rPr altLang="en-US" sz="2800" smtClean="0">
                <a:sym typeface="+mn-ea"/>
              </a:rPr>
              <a:t>развития</a:t>
            </a:r>
            <a:endParaRPr lang="en-US" altLang="en-US" sz="2800" smtClean="0"/>
          </a:p>
          <a:p>
            <a:pPr>
              <a:defRPr/>
            </a:pPr>
            <a:endParaRPr lang="en-US" altLang="en-US" sz="2800" smtClean="0"/>
          </a:p>
          <a:p>
            <a:pPr>
              <a:defRPr/>
            </a:pPr>
            <a:br>
              <a:rPr altLang="en-US" sz="2800">
                <a:sym typeface="+mn-ea"/>
              </a:rPr>
            </a:b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endParaRPr lang="en-US" altLang="en-US" sz="2800"/>
          </a:p>
          <a:p>
            <a:pPr>
              <a:defRPr/>
            </a:pPr>
            <a:b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sz="2800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Изображение 6" descr="88369d6d-5230-4646-b139-3f4d1b9b7f1a"/>
          <p:cNvPicPr>
            <a:picLocks noChangeAspect="1"/>
          </p:cNvPicPr>
          <p:nvPr/>
        </p:nvPicPr>
        <p:blipFill>
          <a:blip r:embed="rId1"/>
          <a:srcRect r="3308" b="3698"/>
          <a:stretch>
            <a:fillRect/>
          </a:stretch>
        </p:blipFill>
        <p:spPr>
          <a:xfrm>
            <a:off x="1568450" y="635635"/>
            <a:ext cx="9054465" cy="6012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/>
        </p:nvSpPr>
        <p:spPr>
          <a:xfrm>
            <a:off x="336000" y="150528"/>
            <a:ext cx="11520000" cy="12922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2800"/>
              <a:t>Заключение</a:t>
            </a:r>
            <a:endParaRPr lang="en-US" altLang="en-US" sz="2800"/>
          </a:p>
          <a:p>
            <a:pPr>
              <a:defRPr/>
            </a:pPr>
            <a:br>
              <a:rPr lang="en-US" altLang="en-US" sz="2800" dirty="0">
                <a:solidFill>
                  <a:srgbClr val="365CA7"/>
                </a:solidFill>
                <a:ea typeface="+mn-ea"/>
                <a:cs typeface="Arial" panose="020B0604020202020204" pitchFamily="34" charset="0"/>
              </a:rPr>
            </a:br>
            <a:endParaRPr lang="en-US" altLang="en-US" sz="2800" dirty="0">
              <a:solidFill>
                <a:srgbClr val="365CA7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684655" y="1500505"/>
            <a:ext cx="8823325" cy="319214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Wingdings" panose="05000000000000000000" charset="0"/>
              <a:buChar char="ü"/>
            </a:pPr>
            <a:r>
              <a:rPr lang="ru-RU" altLang="en-US" sz="2400">
                <a:cs typeface="+mn-lt"/>
                <a:sym typeface="+mn-ea"/>
              </a:rPr>
              <a:t>Р</a:t>
            </a:r>
            <a:r>
              <a:rPr lang="en-US" altLang="zh-CN" sz="2400">
                <a:cs typeface="+mn-lt"/>
                <a:sym typeface="+mn-ea"/>
              </a:rPr>
              <a:t>еализован анализ данных движения и музыкальных характеристик</a:t>
            </a:r>
            <a:r>
              <a:rPr lang="ru-RU" altLang="en-US" sz="2400">
                <a:cs typeface="+mn-lt"/>
                <a:sym typeface="+mn-ea"/>
              </a:rPr>
              <a:t>.</a:t>
            </a:r>
            <a:endParaRPr lang="ru-RU" altLang="en-US" sz="2400">
              <a:solidFill>
                <a:schemeClr val="tx1"/>
              </a:solidFill>
              <a:cs typeface="+mn-lt"/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ru-RU" altLang="en-US" sz="2400">
              <a:solidFill>
                <a:schemeClr val="tx1"/>
              </a:solidFill>
              <a:cs typeface="+mn-lt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ru-RU" altLang="en-US" sz="2400">
                <a:solidFill>
                  <a:schemeClr val="tx1"/>
                </a:solidFill>
                <a:cs typeface="+mn-lt"/>
              </a:rPr>
              <a:t>Р</a:t>
            </a:r>
            <a:r>
              <a:rPr lang="en-US" altLang="zh-CN" sz="2400">
                <a:solidFill>
                  <a:schemeClr val="tx1"/>
                </a:solidFill>
                <a:cs typeface="+mn-lt"/>
              </a:rPr>
              <a:t>азработана интеллектуальная система подбора музыки по ритму движения</a:t>
            </a:r>
            <a:r>
              <a:rPr lang="ru-RU" altLang="en-US" sz="2400">
                <a:solidFill>
                  <a:schemeClr val="tx1"/>
                </a:solidFill>
                <a:cs typeface="+mn-lt"/>
              </a:rPr>
              <a:t>.</a:t>
            </a:r>
            <a:endParaRPr lang="en-US" altLang="zh-CN" sz="2400">
              <a:solidFill>
                <a:schemeClr val="tx1"/>
              </a:solidFill>
              <a:cs typeface="+mn-lt"/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zh-CN" sz="2400">
              <a:solidFill>
                <a:schemeClr val="tx1"/>
              </a:solidFill>
              <a:cs typeface="+mn-lt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ru-RU" altLang="en-US" sz="2400">
                <a:solidFill>
                  <a:schemeClr val="tx1"/>
                </a:solidFill>
                <a:cs typeface="+mn-lt"/>
              </a:rPr>
              <a:t>С</a:t>
            </a:r>
            <a:r>
              <a:rPr lang="en-US" altLang="zh-CN" sz="2400">
                <a:solidFill>
                  <a:schemeClr val="tx1"/>
                </a:solidFill>
                <a:cs typeface="+mn-lt"/>
              </a:rPr>
              <a:t>оздан рабочий прототип и подтверждена надёжность системы.</a:t>
            </a:r>
            <a:endParaRPr lang="en-US" altLang="zh-CN" sz="2400">
              <a:solidFill>
                <a:schemeClr val="tx1"/>
              </a:solidFill>
              <a:cs typeface="+mn-lt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518285" y="4970145"/>
            <a:ext cx="91567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 b="1">
                <a:solidFill>
                  <a:schemeClr val="accent5"/>
                </a:solidFill>
              </a:rPr>
              <a:t>Все задачи пославленные перед ВКР выполнены</a:t>
            </a:r>
            <a:endParaRPr lang="ru-RU" altLang="en-US" sz="28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n0MhMW7kRpq69QUaym87WA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THINKCELLSHAPEDONOTDELETE" val="tn0MhMW7kRpq69QUaym87WA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n0MhMW7kRpq69QUaym87WA"/>
</p:tagLst>
</file>

<file path=ppt/tags/tag9.xml><?xml version="1.0" encoding="utf-8"?>
<p:tagLst xmlns:p="http://schemas.openxmlformats.org/presentationml/2006/main">
  <p:tag name="THINKCELLSHAPEDONOTDELETE" val="thinkcellActiveDocDoNotDelete"/>
</p:tagLst>
</file>

<file path=ppt/tags/tag10.xml><?xml version="1.0" encoding="utf-8"?>
<p:tagLst xmlns:p="http://schemas.openxmlformats.org/presentationml/2006/main">
  <p:tag name="THINKCELLSHAPEDONOTDELETE" val="tn0MhMW7kRpq69QUaym87WA"/>
</p:tagLst>
</file>

<file path=ppt/tags/tag11.xml><?xml version="1.0" encoding="utf-8"?>
<p:tagLst xmlns:p="http://schemas.openxmlformats.org/presentationml/2006/main">
  <p:tag name="THINKCELLSHAPEDONOTDELETE" val="thinkcellActiveDocDoNotDelete"/>
</p:tagLst>
</file>

<file path=ppt/tags/tag12.xml><?xml version="1.0" encoding="utf-8"?>
<p:tagLst xmlns:p="http://schemas.openxmlformats.org/presentationml/2006/main">
  <p:tag name="THINKCELLSHAPEDONOTDELETE" val="thinkcellActiveDocDoNotDelete"/>
</p:tagLst>
</file>

<file path=ppt/tags/tag13.xml><?xml version="1.0" encoding="utf-8"?>
<p:tagLst xmlns:p="http://schemas.openxmlformats.org/presentationml/2006/main">
  <p:tag name="THINKCELLSHAPEDONOTDELETE" val="tn0MhMW7kRpq69QUaym87WA"/>
</p:tagLst>
</file>

<file path=ppt/tags/tag14.xml><?xml version="1.0" encoding="utf-8"?>
<p:tagLst xmlns:p="http://schemas.openxmlformats.org/presentationml/2006/main">
  <p:tag name="THINKCELLSHAPEDONOTDELETE" val="thinkcellActiveDocDoNotDelete"/>
</p:tagLst>
</file>

<file path=ppt/tags/tag15.xml><?xml version="1.0" encoding="utf-8"?>
<p:tagLst xmlns:p="http://schemas.openxmlformats.org/presentationml/2006/main">
  <p:tag name="THINKCELLSHAPEDONOTDELETE" val="tn0MhMW7kRpq69QUaym87WA"/>
</p:tagLst>
</file>

<file path=ppt/tags/tag16.xml><?xml version="1.0" encoding="utf-8"?>
<p:tagLst xmlns:p="http://schemas.openxmlformats.org/presentationml/2006/main">
  <p:tag name="THINKCELLSHAPEDONOTDELETE" val="thinkcellActiveDocDoNotDelete"/>
</p:tagLst>
</file>

<file path=ppt/tags/tag17.xml><?xml version="1.0" encoding="utf-8"?>
<p:tagLst xmlns:p="http://schemas.openxmlformats.org/presentationml/2006/main">
  <p:tag name="THINKCELLSHAPEDONOTDELETE" val="tn0MhMW7kRpq69QUaym87WA"/>
</p:tagLst>
</file>

<file path=ppt/tags/tag18.xml><?xml version="1.0" encoding="utf-8"?>
<p:tagLst xmlns:p="http://schemas.openxmlformats.org/presentationml/2006/main">
  <p:tag name="THINKCELLSHAPEDONOTDELETE" val="thinkcellActiveDocDoNotDelete"/>
</p:tagLst>
</file>

<file path=ppt/tags/tag19.xml><?xml version="1.0" encoding="utf-8"?>
<p:tagLst xmlns:p="http://schemas.openxmlformats.org/presentationml/2006/main">
  <p:tag name="THINKCELLSHAPEDONOTDELETE" val="tn0MhMW7kRpq69QUaym87WA"/>
</p:tagLst>
</file>

<file path=ppt/tags/tag20.xml><?xml version="1.0" encoding="utf-8"?>
<p:tagLst xmlns:p="http://schemas.openxmlformats.org/presentationml/2006/main">
  <p:tag name="THINKCELLSHAPEDONOTDELETE" val="thinkcellActiveDocDoNotDelete"/>
</p:tagLst>
</file>

<file path=ppt/tags/tag21.xml><?xml version="1.0" encoding="utf-8"?>
<p:tagLst xmlns:p="http://schemas.openxmlformats.org/presentationml/2006/main">
  <p:tag name="THINKCELLSHAPEDONOTDELETE" val="tn0MhMW7kRpq69QUaym87WA"/>
</p:tagLst>
</file>

<file path=ppt/tags/tag22.xml><?xml version="1.0" encoding="utf-8"?>
<p:tagLst xmlns:p="http://schemas.openxmlformats.org/presentationml/2006/main">
  <p:tag name="THINKCELLSHAPEDONOTDELETE" val="thinkcellActiveDocDoNotDelete"/>
</p:tagLst>
</file>

<file path=ppt/tags/tag23.xml><?xml version="1.0" encoding="utf-8"?>
<p:tagLst xmlns:p="http://schemas.openxmlformats.org/presentationml/2006/main">
  <p:tag name="THINKCELLSHAPEDONOTDELETE" val="tn0MhMW7kRpq69QUaym87WA"/>
</p:tagLst>
</file>

<file path=ppt/tags/tag24.xml><?xml version="1.0" encoding="utf-8"?>
<p:tagLst xmlns:p="http://schemas.openxmlformats.org/presentationml/2006/main">
  <p:tag name="THINKCELLSHAPEDONOTDELETE" val="thinkcellActiveDocDoNotDelete"/>
</p:tagLst>
</file>

<file path=ppt/tags/tag25.xml><?xml version="1.0" encoding="utf-8"?>
<p:tagLst xmlns:p="http://schemas.openxmlformats.org/presentationml/2006/main">
  <p:tag name="THINKCELLSHAPEDONOTDELETE" val="tn0MhMW7kRpq69QUaym87WA"/>
</p:tagLst>
</file>

<file path=ppt/tags/tag26.xml><?xml version="1.0" encoding="utf-8"?>
<p:tagLst xmlns:p="http://schemas.openxmlformats.org/presentationml/2006/main">
  <p:tag name="THINKCELLSHAPEDONOTDELETE" val="thinkcellActiveDocDoNotDelete"/>
</p:tagLst>
</file>

<file path=ppt/tags/tag27.xml><?xml version="1.0" encoding="utf-8"?>
<p:tagLst xmlns:p="http://schemas.openxmlformats.org/presentationml/2006/main">
  <p:tag name="THINKCELLSHAPEDONOTDELETE" val="tn0MhMW7kRpq69QUaym87WA"/>
</p:tagLst>
</file>

<file path=ppt/tags/tag28.xml><?xml version="1.0" encoding="utf-8"?>
<p:tagLst xmlns:p="http://schemas.openxmlformats.org/presentationml/2006/main">
  <p:tag name="THINKCELLSHAPEDONOTDELETE" val="thinkcellActiveDocDoNotDelete"/>
</p:tagLst>
</file>

<file path=ppt/tags/tag29.xml><?xml version="1.0" encoding="utf-8"?>
<p:tagLst xmlns:p="http://schemas.openxmlformats.org/presentationml/2006/main">
  <p:tag name="THINKCELLSHAPEDONOTDELETE" val="tn0MhMW7kRpq69QUaym87WA"/>
</p:tagLst>
</file>

<file path=ppt/tags/tag30.xml><?xml version="1.0" encoding="utf-8"?>
<p:tagLst xmlns:p="http://schemas.openxmlformats.org/presentationml/2006/main">
  <p:tag name="THINKCELLSHAPEDONOTDELETE" val="thinkcellActiveDocDoNotDelete"/>
</p:tagLst>
</file>

<file path=ppt/tags/tag31.xml><?xml version="1.0" encoding="utf-8"?>
<p:tagLst xmlns:p="http://schemas.openxmlformats.org/presentationml/2006/main">
  <p:tag name="THINKCELLSHAPEDONOTDELETE" val="tn0MhMW7kRpq69QUaym87WA"/>
</p:tagLst>
</file>

<file path=ppt/tags/tag32.xml><?xml version="1.0" encoding="utf-8"?>
<p:tagLst xmlns:p="http://schemas.openxmlformats.org/presentationml/2006/main">
  <p:tag name="THINKCELLSHAPEDONOTDELETE" val="thinkcellActiveDocDoNotDelete"/>
</p:tagLst>
</file>

<file path=ppt/tags/tag33.xml><?xml version="1.0" encoding="utf-8"?>
<p:tagLst xmlns:p="http://schemas.openxmlformats.org/presentationml/2006/main">
  <p:tag name="THINKCELLSHAPEDONOTDELETE" val="tn0MhMW7kRpq69QUaym87WA"/>
</p:tagLst>
</file>

<file path=ppt/tags/tag34.xml><?xml version="1.0" encoding="utf-8"?>
<p:tagLst xmlns:p="http://schemas.openxmlformats.org/presentationml/2006/main">
  <p:tag name="THINKCELLSHAPEDONOTDELETE" val="tn0MhMW7kRpq69QUaym87WA"/>
</p:tagLst>
</file>

<file path=ppt/tags/tag35.xml><?xml version="1.0" encoding="utf-8"?>
<p:tagLst xmlns:p="http://schemas.openxmlformats.org/presentationml/2006/main">
  <p:tag name="THINKCELLSHAPEDONOTDELETE" val="thinkcellActiveDocDoNotDelete"/>
</p:tagLst>
</file>

<file path=ppt/tags/tag36.xml><?xml version="1.0" encoding="utf-8"?>
<p:tagLst xmlns:p="http://schemas.openxmlformats.org/presentationml/2006/main">
  <p:tag name="TABLE_ENDDRAG_ORIGIN_RECT" val="868*381"/>
  <p:tag name="TABLE_ENDDRAG_RECT" val="58*82*868*381"/>
</p:tagLst>
</file>

<file path=ppt/tags/tag37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02588_6*l_h_a*1_1_1"/>
  <p:tag name="KSO_WM_TEMPLATE_CATEGORY" val="custom"/>
  <p:tag name="KSO_WM_TEMPLATE_INDEX" val="20202588"/>
  <p:tag name="KSO_WM_UNIT_LAYERLEVEL" val="1_1_1"/>
  <p:tag name="KSO_WM_TAG_VERSION" val="1.0"/>
  <p:tag name="KSO_WM_UNIT_PRESET_TEXT" val="Click here to add to the title"/>
  <p:tag name="KSO_WM_DIAGRAM_VIRTUALLY_FRAME" val="{&quot;height&quot;:386.1,&quot;left&quot;:151.85,&quot;top&quot;:73.35,&quot;width&quot;:735.3}"/>
</p:tagLst>
</file>

<file path=ppt/tags/tag38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02588_6*l_h_a*1_3_1"/>
  <p:tag name="KSO_WM_TEMPLATE_CATEGORY" val="custom"/>
  <p:tag name="KSO_WM_TEMPLATE_INDEX" val="20202588"/>
  <p:tag name="KSO_WM_UNIT_LAYERLEVEL" val="1_1_1"/>
  <p:tag name="KSO_WM_TAG_VERSION" val="1.0"/>
  <p:tag name="KSO_WM_UNIT_PRESET_TEXT" val="Click here to add to the title"/>
  <p:tag name="KSO_WM_DIAGRAM_VIRTUALLY_FRAME" val="{&quot;height&quot;:386.1,&quot;left&quot;:151.85,&quot;top&quot;:73.35,&quot;width&quot;:735.3}"/>
</p:tagLst>
</file>

<file path=ppt/tags/tag39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custom20202588_6*l_h_a*1_5_1"/>
  <p:tag name="KSO_WM_TEMPLATE_CATEGORY" val="custom"/>
  <p:tag name="KSO_WM_TEMPLATE_INDEX" val="20202588"/>
  <p:tag name="KSO_WM_UNIT_LAYERLEVEL" val="1_1_1"/>
  <p:tag name="KSO_WM_TAG_VERSION" val="1.0"/>
  <p:tag name="KSO_WM_UNIT_PRESET_TEXT" val="Click here to add to the title"/>
  <p:tag name="KSO_WM_DIAGRAM_VIRTUALLY_FRAME" val="{&quot;height&quot;:386.1,&quot;left&quot;:151.85,&quot;top&quot;:73.35,&quot;width&quot;:735.3}"/>
</p:tagLst>
</file>

<file path=ppt/tags/tag40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6_1"/>
  <p:tag name="KSO_WM_UNIT_ID" val="custom20202588_6*l_h_a*1_6_1"/>
  <p:tag name="KSO_WM_TEMPLATE_CATEGORY" val="custom"/>
  <p:tag name="KSO_WM_TEMPLATE_INDEX" val="20202588"/>
  <p:tag name="KSO_WM_UNIT_LAYERLEVEL" val="1_1_1"/>
  <p:tag name="KSO_WM_TAG_VERSION" val="1.0"/>
  <p:tag name="KSO_WM_UNIT_PRESET_TEXT" val="Click here to add to the title"/>
  <p:tag name="KSO_WM_DIAGRAM_VIRTUALLY_FRAME" val="{&quot;height&quot;:386.1,&quot;left&quot;:151.85,&quot;top&quot;:73.35,&quot;width&quot;:735.3}"/>
</p:tagLst>
</file>

<file path=ppt/tags/tag41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</a:ln>
      </a:spPr>
      <a:bodyPr vert="horz" wrap="square" lIns="0" tIns="0" rIns="0" bIns="0" numCol="1" rtlCol="0" anchor="t" anchorCtr="0" compatLnSpc="1">
        <a:spAutoFit/>
      </a:bodyPr>
      <a:lstStyle>
        <a:defPPr marL="0" indent="0" algn="l" defTabSz="914400">
          <a:buClr>
            <a:schemeClr val="accent5"/>
          </a:buClr>
          <a:buFontTx/>
          <a:buNone/>
          <a:defRPr sz="12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1849</Words>
  <Application>WPS Presentation</Application>
  <PresentationFormat>Широкоэкранный</PresentationFormat>
  <Paragraphs>167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</vt:i4>
      </vt:variant>
      <vt:variant>
        <vt:lpstr>幻灯片标题</vt:lpstr>
      </vt:variant>
      <vt:variant>
        <vt:i4>12</vt:i4>
      </vt:variant>
    </vt:vector>
  </HeadingPairs>
  <TitlesOfParts>
    <vt:vector size="38" baseType="lpstr">
      <vt:lpstr>Arial</vt:lpstr>
      <vt:lpstr>SimSun</vt:lpstr>
      <vt:lpstr>Wingdings</vt:lpstr>
      <vt:lpstr>Wingdings</vt:lpstr>
      <vt:lpstr>Microsoft YaHei</vt:lpstr>
      <vt:lpstr>Arial Unicode MS</vt:lpstr>
      <vt:lpstr>1_Theme1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Интеллектуальная система подбора треков по ритму движения пользователя </vt:lpstr>
      <vt:lpstr>Актуальность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WPS_1729208851</cp:lastModifiedBy>
  <cp:revision>938</cp:revision>
  <dcterms:created xsi:type="dcterms:W3CDTF">2021-05-24T15:42:00Z</dcterms:created>
  <dcterms:modified xsi:type="dcterms:W3CDTF">2026-06-15T15:48:20Z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850464F402DF49D6B871337CC2D05967_12</vt:lpwstr>
  </property>
  <property fmtid="{D5CDD505-2E9C-101B-9397-08002B2CF9AE}" pid="3" name="KSOProductBuildVer">
    <vt:lpwstr>1049-12.1.0.26880</vt:lpwstr>
  </property>
</Properties>
</file>